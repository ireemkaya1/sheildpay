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4" r:id="rId6"/>
    <p:sldId id="261" r:id="rId7"/>
    <p:sldId id="266" r:id="rId8"/>
    <p:sldId id="257" r:id="rId9"/>
    <p:sldId id="260" r:id="rId10"/>
    <p:sldId id="265" r:id="rId11"/>
    <p:sldId id="262" r:id="rId1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Orta Stil 3 - Vurgu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00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41089A-5AA3-091F-9DC9-425843437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60082FA5-D208-3428-65D6-EB4026E6C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E0062BB-373C-C6F3-4F4A-5DB90BC5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66C5CE1-1BEF-EF42-A36F-DC81EE333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4A6F126-E741-DE36-266F-7053E324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0664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EB5DA8E-FD09-D983-813D-659B2539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412312E-B44D-A681-5129-EDDE2916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AF314AA-313C-1FF1-C26A-F20E71905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6353D7D-4757-A63A-2843-C51496918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E180C2E-C206-A59A-D8AF-2E688D84D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03319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ACDC08-3CEE-9F12-653E-2EC3B9DCE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48805D4-75EF-8E19-C3FB-A5AC8D7CB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11248C-B684-8734-5E33-F7B193F9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773865-A01B-94CF-FA88-AD8DCAD5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532C6F0-D2BF-61EF-D16C-A896C604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56583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66F94E-FEF6-CDA4-8139-024D24E2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84BAD21-3E23-8388-65AF-4FC591030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BCE51AE-F347-22F2-A9C4-FF9E67EEA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E575D1C2-D1C7-87C9-6ED8-B0AC88FA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EC4F981-34B4-A432-4F65-C02B669A4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02956B1-63AF-F13F-4247-DDEC2885B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2103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92DEDB8-E22C-769F-AE0D-EB40D007A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D54AC0DF-FA52-4770-98B2-EDA39B9F9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A831C55-30F6-B7D9-1D9C-96A5287FD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EB47437-F85B-3DE6-8280-17730B2FD9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2043247F-84DD-0DEC-79DB-B8328A7769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49FFFEB-74BA-65DF-BD58-8CACE0764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BF983B7-9F1E-6B72-176E-2B9F452A2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430B026-6AB7-2DEC-F277-F20C5896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82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84C519-4F3A-B3F8-732C-D6237171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2BD2BF7-25AF-5140-D54E-E78C35D67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B47C25F-46D6-A2F4-666C-DEB7D30A0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71E6AA-08F8-83ED-F31C-80FD9961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7919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345C5DFB-41BB-907C-9580-4ECC49E5B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3D0AA70A-BE3C-6EFA-D60F-8C05EF290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5A9BD29-327F-3430-D1E2-77879105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1164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E4A5D4-E6AD-EE91-2A58-6A1CF28B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A1AAD5-3585-445E-79F5-EE8250136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D471070-71F7-7B33-745D-AA820D295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BF573E9-7B57-8B52-4BD7-49C57A588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32D1EB3-288B-CC79-C035-B06794BC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01FB6AB-7F43-9746-8503-B0A09560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656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7DB875-8304-67E2-E5E8-9337DB6A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EE908C99-00A1-6CC1-1586-375F00085E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2F102826-0390-78EE-82E3-D96B8C49F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6ED45AA-4707-1B7F-6C20-76942DAD7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53B2207-13B3-FF59-1045-8621D34E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E3F03C2-97FB-A844-A473-85D278AF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462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03AEC5-5D9A-D71C-0990-40F18263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1A30D66F-8F81-3FD6-0324-B1DF6D8070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FA06665-DABD-D354-9ECF-9F813060A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1316ED0-D097-4C40-ABA3-E5464F8B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620156E-800B-6F53-4F96-32E55D3E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94568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56C3B738-3F35-350A-5D23-6A3E545EE5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59268DB-A623-2138-5773-97D4D4E8C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A42BDED-0337-7901-2C17-A00F8344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26A07D9-F942-5533-8595-EC0B8EBC4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4BA6EC6-D98C-7C76-F63B-87636847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769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17C614B1-E624-7CD0-E63B-A3FA15F0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CEE1EBE-15F3-CC4D-E412-089721F0E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9DE1E2B-CCAD-0DD5-9864-86ACAC029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EFBC9-785F-44AE-920F-AF9711AA82D2}" type="datetimeFigureOut">
              <a:rPr lang="tr-TR" smtClean="0"/>
              <a:t>24.12.2025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2E522BF-91A0-644A-A527-F6107E1299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23D6FE6-5F3A-6966-D88A-D70FA58F1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4D4DCB-3A80-4C53-BCF2-00CB7939415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317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reemkaya1/SheildPa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00B0F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ED5AC6-ED53-0289-C30D-8F98BA0B2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0221"/>
            <a:ext cx="9144000" cy="100899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sz="5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Shieldpay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C564396-A96D-2DE4-AC10-951A7A953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2786"/>
            <a:ext cx="9144000" cy="4269007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tr-T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Fraud</a:t>
            </a:r>
            <a:r>
              <a:rPr lang="tr-T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Tespiti ve Dijital Ödeme Sistemi 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YZM 3219-Servis Odaklı Mimari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232803060- İrem KAYA</a:t>
            </a:r>
          </a:p>
          <a:p>
            <a:pPr>
              <a:lnSpc>
                <a:spcPct val="120000"/>
              </a:lnSpc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Dr. Müge ÖZÇEVİK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Hasan Ferdi Turgutlu Teknoloji Fakültesi-Yazılım Mühendisliği</a:t>
            </a:r>
          </a:p>
          <a:p>
            <a:pPr>
              <a:lnSpc>
                <a:spcPct val="120000"/>
              </a:lnSpc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pPr>
              <a:lnSpc>
                <a:spcPct val="120000"/>
              </a:lnSpc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41E5392-C008-ECD9-8AF3-8751CF708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821" y="0"/>
            <a:ext cx="2396358" cy="124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47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3">
            <a:extLst>
              <a:ext uri="{FF2B5EF4-FFF2-40B4-BE49-F238E27FC236}">
                <a16:creationId xmlns:a16="http://schemas.microsoft.com/office/drawing/2014/main" id="{CE82E7EC-5F8A-9830-3DF2-8B123342A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64160"/>
            <a:ext cx="6323012" cy="513080"/>
          </a:xfrm>
        </p:spPr>
        <p:txBody>
          <a:bodyPr>
            <a:normAutofit fontScale="90000"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 Tanımı ve Amacı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E21D5-0BDB-B51A-EE77-69868E5A300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79388" y="1161433"/>
            <a:ext cx="99525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arayüzünden işlem başlatılıyor (MVC).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isteği alıyor.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Fraud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kontrol için SOAP servisini çağırıyor.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İşlem doğrulama için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gRPC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servisini kullanıyor.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Sonuç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DB’ye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yazılıyor / listeleniyor.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400" dirty="0"/>
              <a:t>Amaç: işlemleri yönetmek ve olası şüpheli işlemleri servislerle doğrulamak.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0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30FA7B-F7B9-A4EE-6DDE-A1FB66D88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15310"/>
            <a:ext cx="10515600" cy="819807"/>
          </a:xfrm>
        </p:spPr>
        <p:txBody>
          <a:bodyPr>
            <a:normAutofit fontScale="90000"/>
          </a:bodyPr>
          <a:lstStyle/>
          <a:p>
            <a:pPr algn="ctr"/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Teknoloji Yığını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880F903-EFFD-8858-777B-03A164583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5820" y="812329"/>
            <a:ext cx="11687504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ASP.NET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MVC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(UI)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Express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(REST API /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gateway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000" b="1" dirty="0"/>
              <a:t>SOAP (</a:t>
            </a:r>
            <a:r>
              <a:rPr lang="tr-TR" sz="2000" b="1" dirty="0" err="1"/>
              <a:t>Spyne</a:t>
            </a:r>
            <a:r>
              <a:rPr lang="tr-TR" sz="2000" b="1" dirty="0"/>
              <a:t>/Python)</a:t>
            </a:r>
            <a:r>
              <a:rPr lang="tr-TR" sz="2000" dirty="0"/>
              <a:t> (</a:t>
            </a:r>
            <a:r>
              <a:rPr lang="tr-TR" sz="2000" dirty="0" err="1"/>
              <a:t>fraud</a:t>
            </a:r>
            <a:r>
              <a:rPr lang="tr-TR" sz="2000" dirty="0"/>
              <a:t> service)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tr-TR" altLang="tr-T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gRPC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(Python)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(veri)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Hazır API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Frankfurter döviz kuru (REST)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tr-TR" altLang="tr-TR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tr-TR" sz="2000" dirty="0"/>
              <a:t>“</a:t>
            </a:r>
            <a:r>
              <a:rPr lang="tr-TR" sz="2800" dirty="0"/>
              <a:t>“</a:t>
            </a:r>
            <a:r>
              <a:rPr lang="tr-TR" sz="3200" dirty="0"/>
              <a:t>SOA kısmında farklı protokollerle </a:t>
            </a:r>
            <a:r>
              <a:rPr lang="tr-TR" sz="3200" dirty="0" err="1"/>
              <a:t>servisleşme</a:t>
            </a:r>
            <a:r>
              <a:rPr lang="tr-TR" sz="3200" dirty="0"/>
              <a:t> yaptım.”</a:t>
            </a:r>
            <a:endParaRPr kumimoji="0" lang="tr-TR" altLang="tr-T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0000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78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>
            <a:extLst>
              <a:ext uri="{FF2B5EF4-FFF2-40B4-BE49-F238E27FC236}">
                <a16:creationId xmlns:a16="http://schemas.microsoft.com/office/drawing/2014/main" id="{375672ED-D429-B744-DAA8-B8C444CF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2337"/>
          </a:xfrm>
        </p:spPr>
        <p:txBody>
          <a:bodyPr>
            <a:normAutofit fontScale="90000"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Genel Harita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47F2E8A5-BA71-EFC0-D2BF-7A8084CFE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855"/>
            <a:ext cx="10515600" cy="4800108"/>
          </a:xfrm>
        </p:spPr>
        <p:txBody>
          <a:bodyPr/>
          <a:lstStyle/>
          <a:p>
            <a:pPr marL="0" indent="0">
              <a:buNone/>
            </a:pPr>
            <a:r>
              <a:rPr lang="tr-TR" dirty="0"/>
              <a:t>“Bu slaytta SOA isterlerinin hepsinin projede nerede karşılandığını göstereceğim.”</a:t>
            </a:r>
          </a:p>
          <a:p>
            <a:r>
              <a:rPr lang="tr-TR" dirty="0"/>
              <a:t>6 katmanlı SOA tasarımı</a:t>
            </a:r>
          </a:p>
          <a:p>
            <a:r>
              <a:rPr lang="tr-TR" dirty="0"/>
              <a:t>SOAP ile iletişim</a:t>
            </a:r>
          </a:p>
          <a:p>
            <a:r>
              <a:rPr lang="tr-TR" dirty="0" err="1"/>
              <a:t>gRPC</a:t>
            </a:r>
            <a:r>
              <a:rPr lang="tr-TR" dirty="0"/>
              <a:t> ile iletişim</a:t>
            </a:r>
          </a:p>
          <a:p>
            <a:r>
              <a:rPr lang="tr-TR" dirty="0" err="1"/>
              <a:t>Node.js</a:t>
            </a:r>
            <a:r>
              <a:rPr lang="tr-TR" dirty="0"/>
              <a:t> ile yazılmış API</a:t>
            </a:r>
          </a:p>
          <a:p>
            <a:r>
              <a:rPr lang="tr-TR" dirty="0"/>
              <a:t>Hazır API kullanımı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9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71EDFC-FC49-FC60-03BB-5D108DF0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655"/>
            <a:ext cx="10515600" cy="882869"/>
          </a:xfrm>
        </p:spPr>
        <p:txBody>
          <a:bodyPr>
            <a:normAutofit/>
          </a:bodyPr>
          <a:lstStyle/>
          <a:p>
            <a:r>
              <a:rPr lang="tr-TR" sz="3600" dirty="0"/>
              <a:t>SOAP İletişimi (</a:t>
            </a:r>
            <a:r>
              <a:rPr lang="tr-TR" sz="3600" dirty="0" err="1"/>
              <a:t>Fraud</a:t>
            </a:r>
            <a:r>
              <a:rPr lang="tr-TR" sz="3600" dirty="0"/>
              <a:t> Servisi)</a:t>
            </a:r>
            <a:endParaRPr lang="tr-T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İçerik Yer Tutucusu 2">
            <a:extLst>
              <a:ext uri="{FF2B5EF4-FFF2-40B4-BE49-F238E27FC236}">
                <a16:creationId xmlns:a16="http://schemas.microsoft.com/office/drawing/2014/main" id="{00198B9F-9D55-E9DE-084D-D761DFBC4F92}"/>
              </a:ext>
            </a:extLst>
          </p:cNvPr>
          <p:cNvSpPr txBox="1">
            <a:spLocks/>
          </p:cNvSpPr>
          <p:nvPr/>
        </p:nvSpPr>
        <p:spPr>
          <a:xfrm>
            <a:off x="6299200" y="1179373"/>
            <a:ext cx="5054600" cy="4380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</a:t>
            </a: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Yapısı</a:t>
            </a: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(repo / </a:t>
            </a:r>
            <a:r>
              <a:rPr lang="en-US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klasörler</a:t>
            </a: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web/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Payment.Web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(ASP.NET Core MVC)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Controllers, Views, Models, EF/MySQL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/node/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shieldpay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-node-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(Node.js / Express)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REST: /health, /predict, /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/rates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/soap/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shieldpay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-soap-service  (Python / 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Spyne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SOAP WSDL + 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check_fraud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operasyonu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shieldpay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-service  (Python 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transaction.proto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grpc_server.py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 (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opsiyonel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(Flask + .</a:t>
            </a:r>
            <a:r>
              <a:rPr lang="en-US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pkl</a:t>
            </a:r>
            <a:r>
              <a:rPr lang="en-US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model)</a:t>
            </a:r>
            <a:endParaRPr lang="en-US" dirty="0"/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A2637085-6FD7-011C-8C8A-0FF891E292D0}"/>
              </a:ext>
            </a:extLst>
          </p:cNvPr>
          <p:cNvSpPr txBox="1"/>
          <p:nvPr/>
        </p:nvSpPr>
        <p:spPr>
          <a:xfrm>
            <a:off x="75325" y="5884925"/>
            <a:ext cx="11634952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“</a:t>
            </a:r>
            <a:r>
              <a:rPr lang="tr-TR" sz="2400" dirty="0"/>
              <a:t>SOAP servisim Python </a:t>
            </a:r>
            <a:r>
              <a:rPr lang="tr-TR" sz="2400" dirty="0" err="1"/>
              <a:t>Spyne</a:t>
            </a:r>
            <a:r>
              <a:rPr lang="tr-TR" sz="2400" dirty="0"/>
              <a:t> ile çalışıyor, WSDL üzerinden yayınlanıyor.”</a:t>
            </a:r>
          </a:p>
          <a:p>
            <a:r>
              <a:rPr lang="tr-TR" sz="2400" dirty="0"/>
              <a:t>“</a:t>
            </a:r>
            <a:r>
              <a:rPr lang="tr-TR" sz="2400" dirty="0" err="1"/>
              <a:t>Node.js</a:t>
            </a:r>
            <a:r>
              <a:rPr lang="tr-TR" sz="2400" dirty="0"/>
              <a:t> tarafı SOAP </a:t>
            </a:r>
            <a:r>
              <a:rPr lang="tr-TR" sz="2400" dirty="0" err="1"/>
              <a:t>client</a:t>
            </a:r>
            <a:r>
              <a:rPr lang="tr-TR" sz="2400" dirty="0"/>
              <a:t> ile çağırıyor; sonuç </a:t>
            </a:r>
            <a:r>
              <a:rPr lang="tr-TR" sz="2400" dirty="0" err="1"/>
              <a:t>JSON’a</a:t>
            </a:r>
            <a:r>
              <a:rPr lang="tr-TR" sz="2400" dirty="0"/>
              <a:t> normalize edilip web’e dönüyor.”</a:t>
            </a:r>
          </a:p>
          <a:p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4EE17A-09D0-FEFA-74A5-C941F8DEE2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-1" y="940199"/>
            <a:ext cx="6379779" cy="5353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tr-TR" sz="2400" dirty="0">
                <a:highlight>
                  <a:srgbClr val="C0C0C0"/>
                </a:highlight>
              </a:rPr>
              <a:t>Tarayıcı/terminal:</a:t>
            </a:r>
          </a:p>
          <a:p>
            <a:r>
              <a:rPr lang="tr-TR" dirty="0"/>
              <a:t>http://127.0.0.1:8000/?</a:t>
            </a:r>
            <a:r>
              <a:rPr lang="tr-TR" dirty="0" err="1"/>
              <a:t>wsdl</a:t>
            </a:r>
            <a:r>
              <a:rPr lang="tr-TR" sz="1800" dirty="0"/>
              <a:t> </a:t>
            </a:r>
          </a:p>
          <a:p>
            <a:r>
              <a:rPr lang="tr-TR" sz="1800" dirty="0" err="1"/>
              <a:t>Node’dan</a:t>
            </a:r>
            <a:r>
              <a:rPr lang="tr-TR" sz="1800" dirty="0"/>
              <a:t> </a:t>
            </a:r>
            <a:r>
              <a:rPr lang="tr-TR" dirty="0"/>
              <a:t>/</a:t>
            </a:r>
            <a:r>
              <a:rPr lang="tr-TR" dirty="0" err="1"/>
              <a:t>predict</a:t>
            </a:r>
            <a:r>
              <a:rPr lang="tr-TR" sz="1800" dirty="0"/>
              <a:t> isteği atınca </a:t>
            </a:r>
            <a:r>
              <a:rPr lang="tr-TR" sz="1800" dirty="0" err="1"/>
              <a:t>SOAP’a</a:t>
            </a:r>
            <a:r>
              <a:rPr lang="tr-TR" sz="1800" dirty="0"/>
              <a:t> gittiğini söyle.</a:t>
            </a:r>
          </a:p>
          <a:p>
            <a:endParaRPr lang="tr-TR" sz="1800" dirty="0"/>
          </a:p>
          <a:p>
            <a:r>
              <a:rPr lang="tr-TR" sz="1800" b="1" dirty="0"/>
              <a:t>Kod nerede (hocaya gösterme)</a:t>
            </a:r>
            <a:endParaRPr lang="tr-TR" sz="1800" dirty="0"/>
          </a:p>
          <a:p>
            <a:r>
              <a:rPr lang="tr-TR" dirty="0" err="1"/>
              <a:t>soap</a:t>
            </a:r>
            <a:r>
              <a:rPr lang="tr-TR" dirty="0"/>
              <a:t>/</a:t>
            </a:r>
            <a:r>
              <a:rPr lang="tr-TR" dirty="0" err="1"/>
              <a:t>shieldpay</a:t>
            </a:r>
            <a:r>
              <a:rPr lang="tr-TR" dirty="0"/>
              <a:t>-</a:t>
            </a:r>
            <a:r>
              <a:rPr lang="tr-TR" dirty="0" err="1"/>
              <a:t>soap</a:t>
            </a:r>
            <a:r>
              <a:rPr lang="tr-TR" dirty="0"/>
              <a:t>-service/</a:t>
            </a:r>
            <a:r>
              <a:rPr lang="tr-TR" dirty="0" err="1"/>
              <a:t>soap_server.py</a:t>
            </a:r>
            <a:endParaRPr lang="tr-TR" sz="1800" dirty="0"/>
          </a:p>
          <a:p>
            <a:r>
              <a:rPr lang="tr-TR" dirty="0" err="1"/>
              <a:t>soap</a:t>
            </a:r>
            <a:r>
              <a:rPr lang="tr-TR" dirty="0"/>
              <a:t>/</a:t>
            </a:r>
            <a:r>
              <a:rPr lang="tr-TR" dirty="0" err="1"/>
              <a:t>shieldpay</a:t>
            </a:r>
            <a:r>
              <a:rPr lang="tr-TR" dirty="0"/>
              <a:t>-</a:t>
            </a:r>
            <a:r>
              <a:rPr lang="tr-TR" dirty="0" err="1"/>
              <a:t>soap</a:t>
            </a:r>
            <a:r>
              <a:rPr lang="tr-TR" dirty="0"/>
              <a:t>-service/</a:t>
            </a:r>
            <a:r>
              <a:rPr lang="tr-TR" dirty="0" err="1"/>
              <a:t>soap_service.py</a:t>
            </a:r>
            <a:endParaRPr lang="tr-TR" sz="1800" dirty="0"/>
          </a:p>
          <a:p>
            <a:r>
              <a:rPr lang="tr-TR" dirty="0" err="1"/>
              <a:t>soap</a:t>
            </a:r>
            <a:r>
              <a:rPr lang="tr-TR" dirty="0"/>
              <a:t>/</a:t>
            </a:r>
            <a:r>
              <a:rPr lang="tr-TR" dirty="0" err="1"/>
              <a:t>shieldpay</a:t>
            </a:r>
            <a:r>
              <a:rPr lang="tr-TR" dirty="0"/>
              <a:t>-</a:t>
            </a:r>
            <a:r>
              <a:rPr lang="tr-TR" dirty="0" err="1"/>
              <a:t>soap</a:t>
            </a:r>
            <a:r>
              <a:rPr lang="tr-TR" dirty="0"/>
              <a:t>-service/</a:t>
            </a:r>
            <a:r>
              <a:rPr lang="tr-TR" dirty="0" err="1"/>
              <a:t>fraud_service.wsdl</a:t>
            </a:r>
            <a:endParaRPr lang="tr-TR" sz="1800" dirty="0"/>
          </a:p>
          <a:p>
            <a:pPr marL="0" indent="0">
              <a:lnSpc>
                <a:spcPct val="120000"/>
              </a:lnSpc>
              <a:buNone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54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AEF4C1-520F-685C-B172-0D40B94B6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6096001" cy="7462344"/>
          </a:xfrm>
        </p:spPr>
        <p:txBody>
          <a:bodyPr>
            <a:noAutofit/>
          </a:bodyPr>
          <a:lstStyle/>
          <a:p>
            <a:r>
              <a:rPr lang="tr-TR" sz="3200" dirty="0" err="1"/>
              <a:t>gRPC</a:t>
            </a:r>
            <a:r>
              <a:rPr lang="tr-TR" sz="3200" dirty="0"/>
              <a:t> İletişimi (</a:t>
            </a:r>
            <a:r>
              <a:rPr lang="tr-TR" sz="3200" dirty="0" err="1"/>
              <a:t>Transaction</a:t>
            </a:r>
            <a:r>
              <a:rPr lang="tr-TR" sz="3200" dirty="0"/>
              <a:t> </a:t>
            </a:r>
            <a:r>
              <a:rPr lang="tr-TR" sz="3200" dirty="0" err="1"/>
              <a:t>Validate</a:t>
            </a:r>
            <a:r>
              <a:rPr lang="tr-TR" sz="3200" dirty="0"/>
              <a:t>)</a:t>
            </a:r>
            <a:br>
              <a:rPr lang="tr-TR" sz="2400" dirty="0"/>
            </a:br>
            <a:br>
              <a:rPr lang="tr-TR" sz="2400" dirty="0"/>
            </a:br>
            <a:r>
              <a:rPr lang="tr-TR" sz="2400" dirty="0"/>
              <a:t>“</a:t>
            </a:r>
            <a:r>
              <a:rPr lang="tr-TR" sz="2400" dirty="0" err="1"/>
              <a:t>gRPC</a:t>
            </a:r>
            <a:r>
              <a:rPr lang="tr-TR" sz="2400" dirty="0"/>
              <a:t> tarafında </a:t>
            </a:r>
            <a:r>
              <a:rPr lang="tr-TR" sz="2400" dirty="0" err="1"/>
              <a:t>proto</a:t>
            </a:r>
            <a:r>
              <a:rPr lang="tr-TR" sz="2400" dirty="0"/>
              <a:t> ile servis kontratı tanımladım.”</a:t>
            </a:r>
            <a:br>
              <a:rPr lang="tr-TR" sz="2400" dirty="0"/>
            </a:br>
            <a:r>
              <a:rPr lang="tr-TR" sz="2400" dirty="0"/>
              <a:t>“</a:t>
            </a:r>
            <a:r>
              <a:rPr lang="tr-TR" sz="2400" dirty="0" err="1"/>
              <a:t>TransactionService</a:t>
            </a:r>
            <a:r>
              <a:rPr lang="tr-TR" sz="2400" dirty="0"/>
              <a:t>: </a:t>
            </a:r>
            <a:r>
              <a:rPr lang="tr-TR" sz="2400" dirty="0" err="1"/>
              <a:t>ValidateTransaction</a:t>
            </a:r>
            <a:r>
              <a:rPr lang="tr-TR" sz="2400" dirty="0"/>
              <a:t> RPC çağrısı ile </a:t>
            </a:r>
            <a:r>
              <a:rPr lang="tr-TR" sz="2400" dirty="0" err="1"/>
              <a:t>amount</a:t>
            </a:r>
            <a:r>
              <a:rPr lang="tr-TR" sz="2400" dirty="0"/>
              <a:t>/</a:t>
            </a:r>
            <a:r>
              <a:rPr lang="tr-TR" sz="2400" dirty="0" err="1"/>
              <a:t>currency</a:t>
            </a:r>
            <a:r>
              <a:rPr lang="tr-TR" sz="2400" dirty="0"/>
              <a:t> kontrolü yapıyor.”</a:t>
            </a:r>
            <a:br>
              <a:rPr lang="tr-TR" sz="2400" dirty="0"/>
            </a:br>
            <a:r>
              <a:rPr lang="tr-TR" sz="2400" dirty="0"/>
              <a:t>“Client </a:t>
            </a:r>
            <a:r>
              <a:rPr lang="tr-TR" sz="2400" dirty="0" err="1"/>
              <a:t>script</a:t>
            </a:r>
            <a:r>
              <a:rPr lang="tr-TR" sz="2400" dirty="0"/>
              <a:t> ile test </a:t>
            </a:r>
            <a:r>
              <a:rPr lang="tr-TR" sz="2400" dirty="0" err="1"/>
              <a:t>ettiğimde‘Amount</a:t>
            </a:r>
            <a:r>
              <a:rPr lang="tr-TR" sz="2400" dirty="0"/>
              <a:t> </a:t>
            </a:r>
            <a:r>
              <a:rPr lang="tr-TR" sz="2400" dirty="0" err="1"/>
              <a:t>too</a:t>
            </a:r>
            <a:r>
              <a:rPr lang="tr-TR" sz="2400" dirty="0"/>
              <a:t> </a:t>
            </a:r>
            <a:r>
              <a:rPr lang="tr-TR" sz="2400" dirty="0" err="1"/>
              <a:t>high</a:t>
            </a:r>
            <a:r>
              <a:rPr lang="tr-TR" sz="2400" dirty="0"/>
              <a:t>’ gibi cevap döndürüyor.”</a:t>
            </a:r>
            <a:br>
              <a:rPr lang="tr-TR" sz="2400" dirty="0"/>
            </a:br>
            <a:br>
              <a:rPr lang="tr-TR" sz="2400" dirty="0"/>
            </a:br>
            <a:r>
              <a:rPr lang="tr-TR" sz="2400" dirty="0"/>
              <a:t>terminal:</a:t>
            </a:r>
            <a:br>
              <a:rPr lang="tr-TR" sz="2400" dirty="0"/>
            </a:br>
            <a:r>
              <a:rPr lang="tr-TR" sz="2400" dirty="0" err="1"/>
              <a:t>gRPC</a:t>
            </a:r>
            <a:r>
              <a:rPr lang="tr-TR" sz="2400" dirty="0"/>
              <a:t> server çalışır (aşağıda komutlar)</a:t>
            </a:r>
            <a:br>
              <a:rPr lang="tr-TR" sz="2400" dirty="0"/>
            </a:br>
            <a:r>
              <a:rPr lang="tr-TR" sz="2400" dirty="0"/>
              <a:t>python3 </a:t>
            </a:r>
            <a:r>
              <a:rPr lang="tr-TR" sz="2400" dirty="0" err="1"/>
              <a:t>grpc_client.py</a:t>
            </a:r>
            <a:r>
              <a:rPr lang="tr-TR" sz="2400" dirty="0"/>
              <a:t> çıktısı gösterilir.</a:t>
            </a:r>
            <a:br>
              <a:rPr lang="tr-TR" sz="2400" dirty="0"/>
            </a:br>
            <a:br>
              <a:rPr lang="tr-TR" sz="2400" dirty="0"/>
            </a:br>
            <a:r>
              <a:rPr lang="tr-TR" sz="2400" dirty="0"/>
              <a:t>Kod nerede:</a:t>
            </a:r>
            <a:br>
              <a:rPr lang="tr-TR" sz="2400" dirty="0"/>
            </a:br>
            <a:r>
              <a:rPr lang="tr-TR" sz="2400" dirty="0" err="1"/>
              <a:t>grpc</a:t>
            </a:r>
            <a:r>
              <a:rPr lang="tr-TR" sz="2400" dirty="0"/>
              <a:t>/</a:t>
            </a:r>
            <a:r>
              <a:rPr lang="tr-TR" sz="2400" dirty="0" err="1"/>
              <a:t>shieldpay</a:t>
            </a:r>
            <a:r>
              <a:rPr lang="tr-TR" sz="2400" dirty="0"/>
              <a:t>-</a:t>
            </a:r>
            <a:r>
              <a:rPr lang="tr-TR" sz="2400" dirty="0" err="1"/>
              <a:t>grpc</a:t>
            </a:r>
            <a:r>
              <a:rPr lang="tr-TR" sz="2400" dirty="0"/>
              <a:t>-service/</a:t>
            </a:r>
            <a:r>
              <a:rPr lang="tr-TR" sz="2400" dirty="0" err="1"/>
              <a:t>transaction.proto</a:t>
            </a:r>
            <a:br>
              <a:rPr lang="tr-TR" sz="2400" dirty="0"/>
            </a:br>
            <a:r>
              <a:rPr lang="tr-TR" sz="2400" dirty="0" err="1"/>
              <a:t>grpc</a:t>
            </a:r>
            <a:r>
              <a:rPr lang="tr-TR" sz="2400" dirty="0"/>
              <a:t>/</a:t>
            </a:r>
            <a:r>
              <a:rPr lang="tr-TR" sz="2400" dirty="0" err="1"/>
              <a:t>shieldpay</a:t>
            </a:r>
            <a:r>
              <a:rPr lang="tr-TR" sz="2400" dirty="0"/>
              <a:t>-</a:t>
            </a:r>
            <a:r>
              <a:rPr lang="tr-TR" sz="2400" dirty="0" err="1"/>
              <a:t>grpc</a:t>
            </a:r>
            <a:r>
              <a:rPr lang="tr-TR" sz="2400" dirty="0"/>
              <a:t>-service/</a:t>
            </a:r>
            <a:r>
              <a:rPr lang="tr-TR" sz="2400" dirty="0" err="1"/>
              <a:t>grpc_server.py</a:t>
            </a:r>
            <a:br>
              <a:rPr lang="tr-TR" sz="2400" dirty="0"/>
            </a:br>
            <a:r>
              <a:rPr lang="tr-TR" sz="2400" dirty="0" err="1"/>
              <a:t>grpc</a:t>
            </a:r>
            <a:r>
              <a:rPr lang="tr-TR" sz="2400" dirty="0"/>
              <a:t>/</a:t>
            </a:r>
            <a:r>
              <a:rPr lang="tr-TR" sz="2400" dirty="0" err="1"/>
              <a:t>shieldpay</a:t>
            </a:r>
            <a:r>
              <a:rPr lang="tr-TR" sz="2400" dirty="0"/>
              <a:t>-</a:t>
            </a:r>
            <a:r>
              <a:rPr lang="tr-TR" sz="2400" dirty="0" err="1"/>
              <a:t>grpc</a:t>
            </a:r>
            <a:r>
              <a:rPr lang="tr-TR" sz="2400" dirty="0"/>
              <a:t>-service/</a:t>
            </a:r>
            <a:r>
              <a:rPr lang="tr-TR" sz="2400" dirty="0" err="1"/>
              <a:t>grpc_client.py</a:t>
            </a:r>
            <a:br>
              <a:rPr lang="tr-TR" sz="2400" dirty="0"/>
            </a:br>
            <a:br>
              <a:rPr lang="tr-TR" sz="2400" dirty="0"/>
            </a:br>
            <a:br>
              <a:rPr lang="tr-TR" sz="2400" dirty="0"/>
            </a:br>
            <a:br>
              <a:rPr lang="tr-TR" sz="2400" dirty="0"/>
            </a:b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07FFD0FE-55D4-0AAC-A36C-CD978EA7F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90290" y="210207"/>
            <a:ext cx="4965098" cy="630621"/>
          </a:xfrm>
        </p:spPr>
        <p:txBody>
          <a:bodyPr>
            <a:normAutofit fontScale="92500"/>
          </a:bodyPr>
          <a:lstStyle/>
          <a:p>
            <a:r>
              <a:rPr lang="tr-TR" dirty="0" err="1"/>
              <a:t>Node.js</a:t>
            </a:r>
            <a:r>
              <a:rPr lang="tr-TR" dirty="0"/>
              <a:t> API + Hazır API (Frankfurter)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15B6385-8E42-47EA-A2FB-D4F4B44AC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653" y="866047"/>
            <a:ext cx="5602016" cy="4124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Node.js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burada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façade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gateway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MVC’den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gelen isteği alıp gerekli servisleri çağırıyor.”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“Hazır API olarak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Frankfurter’dan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kur verisini çekiyorum.”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400" dirty="0"/>
              <a:t>Sunumda hızlı kanıt: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</a:t>
            </a:r>
            <a:r>
              <a:rPr lang="tr-TR" dirty="0"/>
              <a:t> → </a:t>
            </a:r>
            <a:r>
              <a:rPr lang="tr-TR" dirty="0" err="1"/>
              <a:t>Node</a:t>
            </a:r>
            <a:r>
              <a:rPr lang="tr-TR" dirty="0"/>
              <a:t> ayakta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dirty="0"/>
              <a:t>/</a:t>
            </a:r>
            <a:r>
              <a:rPr lang="tr-TR" dirty="0" err="1"/>
              <a:t>api</a:t>
            </a:r>
            <a:r>
              <a:rPr lang="tr-TR" dirty="0"/>
              <a:t>/</a:t>
            </a:r>
            <a:r>
              <a:rPr lang="tr-TR" dirty="0" err="1"/>
              <a:t>rates?from</a:t>
            </a:r>
            <a:r>
              <a:rPr lang="tr-TR" dirty="0"/>
              <a:t>=</a:t>
            </a:r>
            <a:r>
              <a:rPr lang="tr-TR" dirty="0" err="1"/>
              <a:t>USD&amp;to</a:t>
            </a:r>
            <a:r>
              <a:rPr lang="tr-TR" dirty="0"/>
              <a:t>=TRY → </a:t>
            </a:r>
            <a:r>
              <a:rPr lang="tr-TR" dirty="0" err="1"/>
              <a:t>Frankfurter’dan</a:t>
            </a:r>
            <a:r>
              <a:rPr lang="tr-TR" dirty="0"/>
              <a:t> veri geliyor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sz="2400" dirty="0"/>
              <a:t>Kod nerede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 err="1">
                <a:latin typeface="Arial" panose="020B0604020202020204" pitchFamily="34" charset="0"/>
              </a:rPr>
              <a:t>node</a:t>
            </a:r>
            <a:r>
              <a:rPr lang="tr-TR" altLang="tr-TR" sz="2000" dirty="0">
                <a:latin typeface="Arial" panose="020B0604020202020204" pitchFamily="34" charset="0"/>
              </a:rPr>
              <a:t>/</a:t>
            </a:r>
            <a:r>
              <a:rPr lang="tr-TR" altLang="tr-TR" sz="2000" dirty="0" err="1">
                <a:latin typeface="Arial" panose="020B0604020202020204" pitchFamily="34" charset="0"/>
              </a:rPr>
              <a:t>shieldpay-node-api</a:t>
            </a:r>
            <a:r>
              <a:rPr lang="tr-TR" altLang="tr-TR" sz="2000" dirty="0">
                <a:latin typeface="Arial" panose="020B0604020202020204" pitchFamily="34" charset="0"/>
              </a:rPr>
              <a:t>/</a:t>
            </a:r>
            <a:r>
              <a:rPr lang="tr-TR" altLang="tr-TR" sz="2000" dirty="0" err="1">
                <a:latin typeface="Arial" panose="020B0604020202020204" pitchFamily="34" charset="0"/>
              </a:rPr>
              <a:t>index.cs</a:t>
            </a:r>
            <a:endParaRPr lang="tr-TR" altLang="tr-TR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 err="1">
                <a:latin typeface="Arial" panose="020B0604020202020204" pitchFamily="34" charset="0"/>
              </a:rPr>
              <a:t>node</a:t>
            </a:r>
            <a:r>
              <a:rPr lang="tr-TR" altLang="tr-TR" sz="2000" dirty="0">
                <a:latin typeface="Arial" panose="020B0604020202020204" pitchFamily="34" charset="0"/>
              </a:rPr>
              <a:t>/</a:t>
            </a:r>
            <a:r>
              <a:rPr lang="tr-TR" altLang="tr-TR" sz="2000" dirty="0" err="1">
                <a:latin typeface="Arial" panose="020B0604020202020204" pitchFamily="34" charset="0"/>
              </a:rPr>
              <a:t>shieldpay-node-api</a:t>
            </a:r>
            <a:r>
              <a:rPr lang="tr-TR" altLang="tr-TR" sz="2000" dirty="0">
                <a:latin typeface="Arial" panose="020B0604020202020204" pitchFamily="34" charset="0"/>
              </a:rPr>
              <a:t>/</a:t>
            </a:r>
            <a:r>
              <a:rPr lang="tr-TR" altLang="tr-TR" sz="2000" dirty="0" err="1">
                <a:latin typeface="Arial" panose="020B0604020202020204" pitchFamily="34" charset="0"/>
              </a:rPr>
              <a:t>external-apis</a:t>
            </a:r>
            <a:r>
              <a:rPr lang="tr-TR" altLang="tr-TR" sz="2000" dirty="0">
                <a:latin typeface="Arial" panose="020B0604020202020204" pitchFamily="34" charset="0"/>
              </a:rPr>
              <a:t>/</a:t>
            </a:r>
            <a:r>
              <a:rPr lang="tr-TR" altLang="tr-TR" sz="2000" dirty="0" err="1">
                <a:latin typeface="Arial" panose="020B0604020202020204" pitchFamily="34" charset="0"/>
              </a:rPr>
              <a:t>frankfurter-api.md</a:t>
            </a:r>
            <a:endParaRPr lang="tr-TR" altLang="tr-TR" sz="20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2000" dirty="0" err="1">
                <a:latin typeface="Arial" panose="020B0604020202020204" pitchFamily="34" charset="0"/>
              </a:rPr>
              <a:t>node</a:t>
            </a:r>
            <a:r>
              <a:rPr lang="tr-TR" altLang="tr-TR" sz="2000" dirty="0">
                <a:latin typeface="Arial" panose="020B0604020202020204" pitchFamily="34" charset="0"/>
              </a:rPr>
              <a:t>/</a:t>
            </a:r>
            <a:r>
              <a:rPr lang="tr-TR" altLang="tr-TR" sz="2000" dirty="0" err="1">
                <a:latin typeface="Arial" panose="020B0604020202020204" pitchFamily="34" charset="0"/>
              </a:rPr>
              <a:t>shieldpay-node-api</a:t>
            </a:r>
            <a:r>
              <a:rPr lang="tr-TR" altLang="tr-TR" sz="2000" dirty="0">
                <a:latin typeface="Arial" panose="020B0604020202020204" pitchFamily="34" charset="0"/>
              </a:rPr>
              <a:t>/.</a:t>
            </a:r>
            <a:r>
              <a:rPr lang="tr-TR" altLang="tr-TR" sz="2000" dirty="0" err="1">
                <a:latin typeface="Arial" panose="020B0604020202020204" pitchFamily="34" charset="0"/>
              </a:rPr>
              <a:t>env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51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şlık 6">
            <a:extLst>
              <a:ext uri="{FF2B5EF4-FFF2-40B4-BE49-F238E27FC236}">
                <a16:creationId xmlns:a16="http://schemas.microsoft.com/office/drawing/2014/main" id="{76E850AE-20B5-6DEE-892E-D4D0F2B6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56" y="273269"/>
            <a:ext cx="4309570" cy="715743"/>
          </a:xfrm>
        </p:spPr>
        <p:txBody>
          <a:bodyPr>
            <a:normAutofit/>
          </a:bodyPr>
          <a:lstStyle/>
          <a:p>
            <a:r>
              <a:rPr lang="tr-TR" sz="2400" dirty="0"/>
              <a:t>Mimari Diyagram / 6 Katman</a:t>
            </a:r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Resim Yer Tutucusu 9" descr="metin, doküman, belge, ekran görüntüsü, yazı tip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DFACB97C-4C6E-89AB-23C4-99FA7F314E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2" b="13852"/>
          <a:stretch>
            <a:fillRect/>
          </a:stretch>
        </p:blipFill>
        <p:spPr>
          <a:xfrm>
            <a:off x="5248275" y="0"/>
            <a:ext cx="6172200" cy="6858000"/>
          </a:xfrm>
        </p:spPr>
      </p:pic>
      <p:sp>
        <p:nvSpPr>
          <p:cNvPr id="9" name="Metin Yer Tutucusu 8">
            <a:extLst>
              <a:ext uri="{FF2B5EF4-FFF2-40B4-BE49-F238E27FC236}">
                <a16:creationId xmlns:a16="http://schemas.microsoft.com/office/drawing/2014/main" id="{70137D59-2C39-7D53-4174-D7054A9FB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2456" y="1114097"/>
            <a:ext cx="4414344" cy="4754891"/>
          </a:xfrm>
        </p:spPr>
        <p:txBody>
          <a:bodyPr>
            <a:normAutofit fontScale="92500"/>
          </a:bodyPr>
          <a:lstStyle/>
          <a:p>
            <a:endParaRPr lang="tr-TR" dirty="0"/>
          </a:p>
          <a:p>
            <a:r>
              <a:rPr lang="tr-TR" sz="1800" dirty="0"/>
              <a:t>“6 katmanlı tasarımda üstten alta iş alanı → süreç → servis → altyapı → bileşen → operasyonel sistemler şeklinde modelledim</a:t>
            </a:r>
            <a:r>
              <a:rPr lang="tr-TR" sz="2400" dirty="0"/>
              <a:t>.</a:t>
            </a:r>
          </a:p>
          <a:p>
            <a:r>
              <a:rPr lang="tr-TR" sz="2000" dirty="0"/>
              <a:t>Business Domain: ödeme/</a:t>
            </a:r>
            <a:r>
              <a:rPr lang="tr-TR" sz="2000" dirty="0" err="1"/>
              <a:t>fraud</a:t>
            </a:r>
            <a:r>
              <a:rPr lang="tr-TR" sz="2000" dirty="0"/>
              <a:t> odaklı</a:t>
            </a:r>
          </a:p>
          <a:p>
            <a:r>
              <a:rPr lang="tr-TR" sz="2000" dirty="0"/>
              <a:t>Business </a:t>
            </a:r>
            <a:r>
              <a:rPr lang="tr-TR" sz="2000" dirty="0" err="1"/>
              <a:t>Process</a:t>
            </a:r>
            <a:r>
              <a:rPr lang="tr-TR" sz="2000" dirty="0"/>
              <a:t>: ödeme akışı + risk analizi</a:t>
            </a:r>
          </a:p>
          <a:p>
            <a:r>
              <a:rPr lang="tr-TR" sz="2000" dirty="0"/>
              <a:t>Business Service: </a:t>
            </a:r>
            <a:r>
              <a:rPr lang="tr-TR" sz="2000" dirty="0" err="1"/>
              <a:t>fraud</a:t>
            </a:r>
            <a:r>
              <a:rPr lang="tr-TR" sz="2000" dirty="0"/>
              <a:t> </a:t>
            </a:r>
            <a:r>
              <a:rPr lang="tr-TR" sz="2000" dirty="0" err="1"/>
              <a:t>check</a:t>
            </a:r>
            <a:r>
              <a:rPr lang="tr-TR" sz="2000" dirty="0"/>
              <a:t>, </a:t>
            </a:r>
            <a:r>
              <a:rPr lang="tr-TR" sz="2000" dirty="0" err="1"/>
              <a:t>transaction</a:t>
            </a:r>
            <a:r>
              <a:rPr lang="tr-TR" sz="2000" dirty="0"/>
              <a:t> </a:t>
            </a:r>
            <a:r>
              <a:rPr lang="tr-TR" sz="2000" dirty="0" err="1"/>
              <a:t>validate</a:t>
            </a:r>
            <a:r>
              <a:rPr lang="tr-TR" sz="2000" dirty="0"/>
              <a:t>, API</a:t>
            </a:r>
          </a:p>
          <a:p>
            <a:r>
              <a:rPr lang="tr-TR" sz="2000" dirty="0" err="1"/>
              <a:t>Infrastructure</a:t>
            </a:r>
            <a:r>
              <a:rPr lang="tr-TR" sz="2000" dirty="0"/>
              <a:t>: REST/SOAP/</a:t>
            </a:r>
            <a:r>
              <a:rPr lang="tr-TR" sz="2000" dirty="0" err="1"/>
              <a:t>gRPC</a:t>
            </a:r>
            <a:r>
              <a:rPr lang="tr-TR" sz="2000" dirty="0"/>
              <a:t>, MySQL</a:t>
            </a:r>
          </a:p>
          <a:p>
            <a:r>
              <a:rPr lang="tr-TR" sz="2000" dirty="0"/>
              <a:t>Component: </a:t>
            </a:r>
            <a:r>
              <a:rPr lang="tr-TR" sz="2000" dirty="0" err="1"/>
              <a:t>controller</a:t>
            </a:r>
            <a:r>
              <a:rPr lang="tr-TR" sz="2000" dirty="0"/>
              <a:t>, </a:t>
            </a:r>
            <a:r>
              <a:rPr lang="tr-TR" sz="2000" dirty="0" err="1"/>
              <a:t>node</a:t>
            </a:r>
            <a:r>
              <a:rPr lang="tr-TR" sz="2000" dirty="0"/>
              <a:t> </a:t>
            </a:r>
            <a:r>
              <a:rPr lang="tr-TR" sz="2000" dirty="0" err="1"/>
              <a:t>api</a:t>
            </a:r>
            <a:r>
              <a:rPr lang="tr-TR" sz="2000" dirty="0"/>
              <a:t>, </a:t>
            </a:r>
            <a:r>
              <a:rPr lang="tr-TR" sz="2000" dirty="0" err="1"/>
              <a:t>soap</a:t>
            </a:r>
            <a:r>
              <a:rPr lang="tr-TR" sz="2000" dirty="0"/>
              <a:t> server, </a:t>
            </a:r>
            <a:r>
              <a:rPr lang="tr-TR" sz="2000" dirty="0" err="1"/>
              <a:t>grpc</a:t>
            </a:r>
            <a:r>
              <a:rPr lang="tr-TR" sz="2000" dirty="0"/>
              <a:t> server</a:t>
            </a:r>
          </a:p>
          <a:p>
            <a:r>
              <a:rPr lang="tr-TR" sz="2000" dirty="0" err="1"/>
              <a:t>Operational</a:t>
            </a:r>
            <a:r>
              <a:rPr lang="tr-TR" sz="2000" dirty="0"/>
              <a:t>: MySQL, </a:t>
            </a:r>
            <a:r>
              <a:rPr lang="tr-TR" sz="2000" dirty="0" err="1"/>
              <a:t>local</a:t>
            </a:r>
            <a:r>
              <a:rPr lang="tr-TR" sz="2000" dirty="0"/>
              <a:t> host, </a:t>
            </a:r>
            <a:r>
              <a:rPr lang="tr-TR" sz="2000" dirty="0" err="1"/>
              <a:t>external</a:t>
            </a:r>
            <a:r>
              <a:rPr lang="tr-TR" sz="2000" dirty="0"/>
              <a:t> API</a:t>
            </a:r>
          </a:p>
          <a:p>
            <a:endParaRPr lang="tr-T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78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05CE93B-40B6-CC3D-5BF5-4ECB9EEC0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3261"/>
          </a:xfrm>
        </p:spPr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B82483-4CC6-3E00-4637-9A8ED5FD6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r-TR" dirty="0"/>
              <a:t>[1] </a:t>
            </a:r>
            <a:r>
              <a:rPr lang="tr-TR" dirty="0">
                <a:hlinkClick r:id="rId2"/>
              </a:rPr>
              <a:t>https://github.com/ireemkaya1/SheildPay</a:t>
            </a:r>
            <a:endParaRPr lang="tr-TR" dirty="0"/>
          </a:p>
          <a:p>
            <a:pPr marL="0" indent="0">
              <a:buNone/>
            </a:pPr>
            <a:r>
              <a:rPr lang="tr-TR" dirty="0"/>
              <a:t>“Kodlar ve README </a:t>
            </a:r>
            <a:r>
              <a:rPr lang="tr-TR" dirty="0" err="1"/>
              <a:t>GitHub’da</a:t>
            </a:r>
            <a:r>
              <a:rPr lang="tr-T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629809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DC66BCBAFA9FD94F8D3AE88B09CBDA62" ma:contentTypeVersion="11" ma:contentTypeDescription="Yeni belge oluşturun." ma:contentTypeScope="" ma:versionID="5c6d65bca0098c9f67b324481edb7838">
  <xsd:schema xmlns:xsd="http://www.w3.org/2001/XMLSchema" xmlns:xs="http://www.w3.org/2001/XMLSchema" xmlns:p="http://schemas.microsoft.com/office/2006/metadata/properties" xmlns:ns2="87dbed84-ea2d-4c81-9032-b351b004c82c" xmlns:ns3="a24ab77b-6ebf-4ea1-95fd-d7fd9a65aae6" targetNamespace="http://schemas.microsoft.com/office/2006/metadata/properties" ma:root="true" ma:fieldsID="1b028453ee11600842d1878e55e2ecfb" ns2:_="" ns3:_="">
    <xsd:import namespace="87dbed84-ea2d-4c81-9032-b351b004c82c"/>
    <xsd:import namespace="a24ab77b-6ebf-4ea1-95fd-d7fd9a65aa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bed84-ea2d-4c81-9032-b351b004c8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Resim Etiketleri" ma:readOnly="false" ma:fieldId="{5cf76f15-5ced-4ddc-b409-7134ff3c332f}" ma:taxonomyMulti="true" ma:sspId="25b86514-8e1d-4ede-91c0-90ec09b573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4ab77b-6ebf-4ea1-95fd-d7fd9a65aae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9227fdd-dbee-487c-82d5-2f71b21c7659}" ma:internalName="TaxCatchAll" ma:showField="CatchAllData" ma:web="a24ab77b-6ebf-4ea1-95fd-d7fd9a65aa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24ab77b-6ebf-4ea1-95fd-d7fd9a65aae6" xsi:nil="true"/>
    <lcf76f155ced4ddcb4097134ff3c332f xmlns="87dbed84-ea2d-4c81-9032-b351b004c82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4A3C9B-22E1-48DF-9B6A-A8B7A0993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bed84-ea2d-4c81-9032-b351b004c82c"/>
    <ds:schemaRef ds:uri="a24ab77b-6ebf-4ea1-95fd-d7fd9a65aa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FEAE1B-5360-42E5-99A5-B826BFFFC3A1}">
  <ds:schemaRefs>
    <ds:schemaRef ds:uri="87dbed84-ea2d-4c81-9032-b351b004c82c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a24ab77b-6ebf-4ea1-95fd-d7fd9a65aae6"/>
    <ds:schemaRef ds:uri="http://purl.org/dc/elements/1.1/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B31CFC4-FF69-4C1E-98F6-1585390A89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653</Words>
  <Application>Microsoft Macintosh PowerPoint</Application>
  <PresentationFormat>Geniş ekran</PresentationFormat>
  <Paragraphs>81</Paragraphs>
  <Slides>8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Times New Roman</vt:lpstr>
      <vt:lpstr>Office Teması</vt:lpstr>
      <vt:lpstr>  Shieldpay</vt:lpstr>
      <vt:lpstr>Proje Tanımı ve Amacı</vt:lpstr>
      <vt:lpstr>Teknoloji Yığını</vt:lpstr>
      <vt:lpstr>Genel Harita</vt:lpstr>
      <vt:lpstr>SOAP İletişimi (Fraud Servisi)</vt:lpstr>
      <vt:lpstr>gRPC İletişimi (Transaction Validate)  “gRPC tarafında proto ile servis kontratı tanımladım.” “TransactionService: ValidateTransaction RPC çağrısı ile amount/currency kontrolü yapıyor.” “Client script ile test ettiğimde‘Amount too high’ gibi cevap döndürüyor.”  terminal: gRPC server çalışır (aşağıda komutlar) python3 grpc_client.py çıktısı gösterilir.  Kod nerede: grpc/shieldpay-grpc-service/transaction.proto grpc/shieldpay-grpc-service/grpc_server.py grpc/shieldpay-grpc-service/grpc_client.py    </vt:lpstr>
      <vt:lpstr>Mimari Diyagram / 6 Katman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GÜNEY KAYA</dc:creator>
  <cp:lastModifiedBy>İREM K. 232803060</cp:lastModifiedBy>
  <cp:revision>9</cp:revision>
  <dcterms:created xsi:type="dcterms:W3CDTF">2025-12-08T13:02:36Z</dcterms:created>
  <dcterms:modified xsi:type="dcterms:W3CDTF">2025-12-24T05:16:59Z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0x010100DC66BCBAFA9FD94F8D3AE88B09CBDA62</vt:lpwstr>
  </property>
</Properties>
</file>