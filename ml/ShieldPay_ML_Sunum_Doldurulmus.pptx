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4" r:id="rId6"/>
    <p:sldId id="261" r:id="rId7"/>
    <p:sldId id="266" r:id="rId8"/>
    <p:sldId id="257" r:id="rId9"/>
    <p:sldId id="260" r:id="rId10"/>
    <p:sldId id="265" r:id="rId11"/>
    <p:sldId id="262" r:id="rId1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Orta Stil 3 - Vurgu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19"/>
  </p:normalViewPr>
  <p:slideViewPr>
    <p:cSldViewPr snapToGrid="0">
      <p:cViewPr varScale="1">
        <p:scale>
          <a:sx n="109" d="100"/>
          <a:sy n="109" d="100"/>
        </p:scale>
        <p:origin x="7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C41089A-5AA3-091F-9DC9-425843437D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0082FA5-D208-3428-65D6-EB4026E6C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E0062BB-373C-C6F3-4F4A-5DB90BC56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66C5CE1-1BEF-EF42-A36F-DC81EE333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4A6F126-E741-DE36-266F-7053E3241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0664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B5DA8E-FD09-D983-813D-659B25391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412312E-B44D-A681-5129-EDDE2916D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AF314AA-313C-1FF1-C26A-F20E71905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6353D7D-4757-A63A-2843-C51496918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E180C2E-C206-A59A-D8AF-2E688D84D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03319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ACDC08-3CEE-9F12-653E-2EC3B9DCE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48805D4-75EF-8E19-C3FB-A5AC8D7CB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D11248C-B684-8734-5E33-F7B193F92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8773865-A01B-94CF-FA88-AD8DCAD5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532C6F0-D2BF-61EF-D16C-A896C604E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6583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766F94E-FEF6-CDA4-8139-024D24E2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84BAD21-3E23-8388-65AF-4FC591030D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BCE51AE-F347-22F2-A9C4-FF9E67EEA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575D1C2-D1C7-87C9-6ED8-B0AC88FA4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EC4F981-34B4-A432-4F65-C02B669A4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02956B1-63AF-F13F-4247-DDEC2885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2103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92DEDB8-E22C-769F-AE0D-EB40D007A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54AC0DF-FA52-4770-98B2-EDA39B9F9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A831C55-30F6-B7D9-1D9C-96A5287FD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2EB47437-F85B-3DE6-8280-17730B2FD9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2043247F-84DD-0DEC-79DB-B8328A7769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49FFFEB-74BA-65DF-BD58-8CACE0764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3BF983B7-9F1E-6B72-176E-2B9F452A2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C430B026-6AB7-2DEC-F277-F20C5896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58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484C519-4F3A-B3F8-732C-D6237171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2BD2BF7-25AF-5140-D54E-E78C35D6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B47C25F-46D6-A2F4-666C-DEB7D30A0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571E6AA-08F8-83ED-F31C-80FD9961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9196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345C5DFB-41BB-907C-9580-4ECC49E5B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3D0AA70A-BE3C-6EFA-D60F-8C05EF290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5A9BD29-327F-3430-D1E2-77879105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1164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2E4A5D4-E6AD-EE91-2A58-6A1CF28B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9A1AAD5-3585-445E-79F5-EE8250136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D471070-71F7-7B33-745D-AA820D295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BF573E9-7B57-8B52-4BD7-49C57A588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32D1EB3-288B-CC79-C035-B06794BCD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01FB6AB-7F43-9746-8503-B0A09560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6569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57DB875-8304-67E2-E5E8-9337DB6A9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E908C99-00A1-6CC1-1586-375F00085E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F102826-0390-78EE-82E3-D96B8C49F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6ED45AA-4707-1B7F-6C20-76942DAD7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53B2207-13B3-FF59-1045-8621D34E0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E3F03C2-97FB-A844-A473-85D278AF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462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603AEC5-5D9A-D71C-0990-40F18263E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A30D66F-8F81-3FD6-0324-B1DF6D807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FA06665-DABD-D354-9ECF-9F813060A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1316ED0-D097-4C40-ABA3-E5464F8B2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620156E-800B-6F53-4F96-32E55D3E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4568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56C3B738-3F35-350A-5D23-6A3E545EE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59268DB-A623-2138-5773-97D4D4E8C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A42BDED-0337-7901-2C17-A00F8344E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26A07D9-F942-5533-8595-EC0B8EBC4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4BA6EC6-D98C-7C76-F63B-87636847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769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17C614B1-E624-7CD0-E63B-A3FA15F07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CEE1EBE-15F3-CC4D-E412-089721F0E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9DE1E2B-CCAD-0DD5-9864-86ACAC029C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2E522BF-91A0-644A-A527-F6107E129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23D6FE6-5F3A-6966-D88A-D70FA58F17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3174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7ED5AC6-ED53-0289-C30D-8F98BA0B20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5763"/>
            <a:ext cx="9144000" cy="1157776"/>
          </a:xfrm>
        </p:spPr>
        <p:txBody>
          <a:bodyPr/>
          <a:lstStyle/>
          <a:p>
            <a:pPr>
              <a:lnSpc>
                <a:spcPct val="100000"/>
              </a:lnSpc>
              <a:defRPr sz="3200" b="1"/>
            </a:pPr>
            <a:r>
              <a:rPr dirty="0" err="1"/>
              <a:t>ShieldPay</a:t>
            </a:r>
            <a:r>
              <a:rPr dirty="0"/>
              <a:t> – </a:t>
            </a:r>
            <a:r>
              <a:rPr dirty="0" err="1"/>
              <a:t>İşlem</a:t>
            </a:r>
            <a:r>
              <a:rPr dirty="0"/>
              <a:t> </a:t>
            </a:r>
            <a:r>
              <a:rPr dirty="0" err="1"/>
              <a:t>Dolandırıcılığı</a:t>
            </a:r>
            <a:r>
              <a:rPr dirty="0"/>
              <a:t> (Fraud) </a:t>
            </a:r>
            <a:r>
              <a:rPr dirty="0" err="1"/>
              <a:t>Tespit</a:t>
            </a:r>
            <a:r>
              <a:rPr dirty="0"/>
              <a:t> </a:t>
            </a:r>
            <a:r>
              <a:rPr dirty="0" err="1"/>
              <a:t>Sistemi</a:t>
            </a:r>
            <a:endParaRPr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C564396-A96D-2DE4-AC10-951A7A953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71446"/>
            <a:ext cx="9144000" cy="339603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defRPr sz="1400"/>
            </a:pPr>
            <a:r>
              <a:rPr lang="tr-TR" sz="2000" dirty="0"/>
              <a:t>YZM 3223- Makine Öğrenmesi</a:t>
            </a:r>
          </a:p>
          <a:p>
            <a:pPr>
              <a:lnSpc>
                <a:spcPct val="120000"/>
              </a:lnSpc>
              <a:defRPr sz="1400"/>
            </a:pPr>
            <a:r>
              <a:rPr lang="tr-TR" sz="2000" dirty="0"/>
              <a:t>232803060- İrem KAYA</a:t>
            </a:r>
          </a:p>
          <a:p>
            <a:pPr>
              <a:lnSpc>
                <a:spcPct val="120000"/>
              </a:lnSpc>
              <a:defRPr sz="1400"/>
            </a:pPr>
            <a:r>
              <a:rPr lang="tr-TR" sz="2000" dirty="0"/>
              <a:t>Prof. Dr. Akın ÖZÇİFT</a:t>
            </a:r>
          </a:p>
          <a:p>
            <a:pPr>
              <a:lnSpc>
                <a:spcPct val="120000"/>
              </a:lnSpc>
              <a:defRPr sz="1400"/>
            </a:pPr>
            <a:r>
              <a:rPr lang="tr-TR" sz="2000" dirty="0"/>
              <a:t>Hasan Ferdi Turgutlu Teknoloji Fakültesi- Yazılım Mühendisliği</a:t>
            </a:r>
          </a:p>
          <a:p>
            <a:pPr>
              <a:lnSpc>
                <a:spcPct val="120000"/>
              </a:lnSpc>
              <a:defRPr sz="1400"/>
            </a:pPr>
            <a:r>
              <a:rPr lang="tr-TR" sz="2000" dirty="0"/>
              <a:t>2025</a:t>
            </a:r>
            <a:endParaRPr sz="20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41E5392-C008-ECD9-8AF3-8751CF708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455" y="0"/>
            <a:ext cx="2123736" cy="165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74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CE82E7EC-5F8A-9830-3DF2-8B123342A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64160"/>
            <a:ext cx="6323012" cy="513080"/>
          </a:xfrm>
        </p:spPr>
        <p:txBody>
          <a:bodyPr>
            <a:normAutofit/>
          </a:bodyPr>
          <a:lstStyle/>
          <a:p>
            <a:pPr>
              <a:defRPr sz="2800" b="1"/>
            </a:pPr>
            <a:r>
              <a:t>Proje organizasyonu</a:t>
            </a:r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6C99A622-6A2D-7B60-A6E9-0FA88C24A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016000"/>
            <a:ext cx="3932237" cy="4852988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  <a:defRPr sz="1600"/>
            </a:pPr>
            <a:r>
              <a:rPr dirty="0"/>
              <a:t>Problem &amp; Veri: </a:t>
            </a:r>
            <a:r>
              <a:rPr dirty="0" err="1"/>
              <a:t>islemler_final.csv</a:t>
            </a:r>
            <a:r>
              <a:rPr dirty="0"/>
              <a:t> </a:t>
            </a:r>
            <a:r>
              <a:rPr dirty="0" err="1"/>
              <a:t>üzerinden</a:t>
            </a:r>
            <a:r>
              <a:rPr dirty="0"/>
              <a:t> </a:t>
            </a:r>
            <a:r>
              <a:rPr dirty="0" err="1"/>
              <a:t>dolandırıcılık</a:t>
            </a:r>
            <a:r>
              <a:rPr dirty="0"/>
              <a:t> </a:t>
            </a:r>
            <a:r>
              <a:rPr dirty="0" err="1"/>
              <a:t>sınıflandırma</a:t>
            </a:r>
            <a:r>
              <a:rPr dirty="0"/>
              <a:t> (fraud / not-fraud)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/>
            </a:pPr>
            <a:r>
              <a:rPr dirty="0"/>
              <a:t>EDA &amp; </a:t>
            </a:r>
            <a:r>
              <a:rPr dirty="0" err="1"/>
              <a:t>Ön</a:t>
            </a:r>
            <a:r>
              <a:rPr dirty="0"/>
              <a:t> </a:t>
            </a:r>
            <a:r>
              <a:rPr dirty="0" err="1"/>
              <a:t>İşleme</a:t>
            </a:r>
            <a:r>
              <a:rPr dirty="0"/>
              <a:t>: </a:t>
            </a:r>
            <a:r>
              <a:rPr dirty="0" err="1"/>
              <a:t>veri</a:t>
            </a:r>
            <a:r>
              <a:rPr dirty="0"/>
              <a:t> </a:t>
            </a:r>
            <a:r>
              <a:rPr dirty="0" err="1"/>
              <a:t>kalitesi</a:t>
            </a:r>
            <a:r>
              <a:rPr dirty="0"/>
              <a:t> </a:t>
            </a:r>
            <a:r>
              <a:rPr dirty="0" err="1"/>
              <a:t>kontrolü</a:t>
            </a:r>
            <a:r>
              <a:rPr dirty="0"/>
              <a:t>, </a:t>
            </a:r>
            <a:r>
              <a:rPr dirty="0" err="1"/>
              <a:t>sınıf</a:t>
            </a:r>
            <a:r>
              <a:rPr dirty="0"/>
              <a:t> </a:t>
            </a:r>
            <a:r>
              <a:rPr dirty="0" err="1"/>
              <a:t>dağılımı</a:t>
            </a:r>
            <a:r>
              <a:rPr dirty="0"/>
              <a:t>, </a:t>
            </a:r>
            <a:r>
              <a:rPr dirty="0" err="1"/>
              <a:t>kategorik</a:t>
            </a:r>
            <a:r>
              <a:rPr dirty="0"/>
              <a:t>/</a:t>
            </a:r>
            <a:r>
              <a:rPr dirty="0" err="1"/>
              <a:t>sayısal</a:t>
            </a:r>
            <a:r>
              <a:rPr dirty="0"/>
              <a:t> </a:t>
            </a:r>
            <a:r>
              <a:rPr dirty="0" err="1"/>
              <a:t>dönüşümler</a:t>
            </a:r>
            <a:r>
              <a:rPr dirty="0"/>
              <a:t> (pipeline)</a:t>
            </a:r>
          </a:p>
          <a:p>
            <a:pPr>
              <a:defRPr sz="1600"/>
            </a:pPr>
            <a:r>
              <a:rPr dirty="0"/>
              <a:t>Model &amp; Artefact: </a:t>
            </a:r>
            <a:r>
              <a:rPr dirty="0" err="1"/>
              <a:t>eğitim</a:t>
            </a:r>
            <a:r>
              <a:rPr dirty="0"/>
              <a:t> + </a:t>
            </a:r>
            <a:r>
              <a:rPr dirty="0" err="1"/>
              <a:t>değerlendirme</a:t>
            </a:r>
            <a:r>
              <a:rPr dirty="0"/>
              <a:t>; </a:t>
            </a:r>
            <a:r>
              <a:rPr dirty="0" err="1"/>
              <a:t>çıktı</a:t>
            </a:r>
            <a:r>
              <a:rPr dirty="0"/>
              <a:t> </a:t>
            </a:r>
            <a:r>
              <a:rPr dirty="0" err="1"/>
              <a:t>olarak</a:t>
            </a:r>
            <a:r>
              <a:rPr dirty="0"/>
              <a:t> </a:t>
            </a:r>
            <a:r>
              <a:rPr dirty="0" err="1"/>
              <a:t>fraud_pipeline.joblib</a:t>
            </a:r>
            <a:endParaRPr dirty="0"/>
          </a:p>
          <a:p>
            <a:pPr>
              <a:defRPr sz="1600"/>
            </a:pPr>
            <a:r>
              <a:rPr dirty="0"/>
              <a:t>Servis &amp; Demo: Flask API (/health, /predict) → JSON </a:t>
            </a:r>
            <a:r>
              <a:rPr dirty="0" err="1"/>
              <a:t>tahmin</a:t>
            </a:r>
            <a:r>
              <a:rPr dirty="0"/>
              <a:t>; </a:t>
            </a:r>
            <a:r>
              <a:rPr dirty="0" err="1"/>
              <a:t>uygulama</a:t>
            </a:r>
            <a:r>
              <a:rPr dirty="0"/>
              <a:t> </a:t>
            </a:r>
            <a:r>
              <a:rPr dirty="0" err="1"/>
              <a:t>tarafına</a:t>
            </a:r>
            <a:r>
              <a:rPr dirty="0"/>
              <a:t> </a:t>
            </a:r>
            <a:r>
              <a:rPr dirty="0" err="1"/>
              <a:t>entegrasyon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602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30FA7B-F7B9-A4EE-6DDE-A1FB66D8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 b="1"/>
            </a:pPr>
            <a:r>
              <a:t>1. Veri Seti ve Keşif Analizi (EDA)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E30CE97-4C14-8359-B5BA-F3E1AFE05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defRPr sz="1800"/>
            </a:pPr>
            <a:r>
              <a:t>Veri toplama → temizleme → EDA bulguları → eğitim için hazırlık</a:t>
            </a:r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278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id="{375672ED-D429-B744-DAA8-B8C444CFB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Veri Seti Özeti (islemler_final.csv)</a:t>
            </a:r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47F2E8A5-BA71-EFC0-D2BF-7A8084CFE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492"/>
            <a:ext cx="10515600" cy="4758471"/>
          </a:xfrm>
        </p:spPr>
        <p:txBody>
          <a:bodyPr/>
          <a:lstStyle/>
          <a:p>
            <a:pPr>
              <a:defRPr sz="1800"/>
            </a:pPr>
            <a:r>
              <a:rPr dirty="0"/>
              <a:t>Alan: </a:t>
            </a:r>
            <a:r>
              <a:rPr dirty="0" err="1"/>
              <a:t>İşlem</a:t>
            </a:r>
            <a:r>
              <a:rPr dirty="0"/>
              <a:t> (transaction) </a:t>
            </a:r>
            <a:r>
              <a:rPr dirty="0" err="1"/>
              <a:t>kayıtları</a:t>
            </a:r>
            <a:r>
              <a:rPr dirty="0"/>
              <a:t> </a:t>
            </a:r>
            <a:r>
              <a:rPr dirty="0" err="1"/>
              <a:t>üzerinden</a:t>
            </a:r>
            <a:r>
              <a:rPr dirty="0"/>
              <a:t> </a:t>
            </a:r>
            <a:r>
              <a:rPr dirty="0" err="1"/>
              <a:t>dolandırıcılık</a:t>
            </a:r>
            <a:r>
              <a:rPr dirty="0"/>
              <a:t> </a:t>
            </a:r>
            <a:r>
              <a:rPr dirty="0" err="1"/>
              <a:t>tespiti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dirty="0" err="1"/>
              <a:t>Hedef</a:t>
            </a:r>
            <a:r>
              <a:rPr dirty="0"/>
              <a:t> </a:t>
            </a:r>
            <a:r>
              <a:rPr dirty="0" err="1"/>
              <a:t>değişken</a:t>
            </a:r>
            <a:r>
              <a:rPr dirty="0"/>
              <a:t>: Fraud </a:t>
            </a:r>
            <a:r>
              <a:rPr dirty="0" err="1"/>
              <a:t>etiketi</a:t>
            </a:r>
            <a:r>
              <a:rPr dirty="0"/>
              <a:t> (</a:t>
            </a:r>
            <a:r>
              <a:rPr dirty="0" err="1"/>
              <a:t>ikili</a:t>
            </a:r>
            <a:r>
              <a:rPr dirty="0"/>
              <a:t> </a:t>
            </a:r>
            <a:r>
              <a:rPr dirty="0" err="1"/>
              <a:t>sınıflandırma</a:t>
            </a:r>
            <a:r>
              <a:rPr dirty="0"/>
              <a:t>)</a:t>
            </a:r>
          </a:p>
          <a:p>
            <a:pPr>
              <a:defRPr sz="1800"/>
            </a:pPr>
            <a:r>
              <a:rPr dirty="0" err="1"/>
              <a:t>Ön</a:t>
            </a:r>
            <a:r>
              <a:rPr dirty="0"/>
              <a:t> </a:t>
            </a:r>
            <a:r>
              <a:rPr dirty="0" err="1"/>
              <a:t>işleme</a:t>
            </a:r>
            <a:r>
              <a:rPr dirty="0"/>
              <a:t>: </a:t>
            </a:r>
            <a:r>
              <a:rPr dirty="0" err="1"/>
              <a:t>eksik</a:t>
            </a:r>
            <a:r>
              <a:rPr dirty="0"/>
              <a:t> </a:t>
            </a:r>
            <a:r>
              <a:rPr dirty="0" err="1"/>
              <a:t>değer</a:t>
            </a:r>
            <a:r>
              <a:rPr dirty="0"/>
              <a:t>/format </a:t>
            </a:r>
            <a:r>
              <a:rPr dirty="0" err="1"/>
              <a:t>kontrolü</a:t>
            </a:r>
            <a:r>
              <a:rPr dirty="0"/>
              <a:t>, </a:t>
            </a:r>
            <a:r>
              <a:rPr dirty="0" err="1"/>
              <a:t>kategorik</a:t>
            </a:r>
            <a:r>
              <a:rPr dirty="0"/>
              <a:t> </a:t>
            </a:r>
            <a:r>
              <a:rPr dirty="0" err="1"/>
              <a:t>kodlama</a:t>
            </a:r>
            <a:r>
              <a:rPr dirty="0"/>
              <a:t>, </a:t>
            </a:r>
            <a:r>
              <a:rPr dirty="0" err="1"/>
              <a:t>ölçekleme</a:t>
            </a:r>
            <a:r>
              <a:rPr dirty="0"/>
              <a:t> (Pipeline </a:t>
            </a:r>
            <a:r>
              <a:rPr dirty="0" err="1"/>
              <a:t>yaklaşımı</a:t>
            </a:r>
            <a:r>
              <a:rPr dirty="0"/>
              <a:t>)</a:t>
            </a:r>
          </a:p>
          <a:p>
            <a:pPr>
              <a:defRPr sz="1800"/>
            </a:pPr>
            <a:r>
              <a:rPr dirty="0" err="1"/>
              <a:t>Eğitim</a:t>
            </a:r>
            <a:r>
              <a:rPr dirty="0"/>
              <a:t> </a:t>
            </a:r>
            <a:r>
              <a:rPr dirty="0" err="1"/>
              <a:t>altyapısı</a:t>
            </a:r>
            <a:r>
              <a:rPr dirty="0"/>
              <a:t>: </a:t>
            </a:r>
            <a:r>
              <a:rPr dirty="0" err="1"/>
              <a:t>Fraud_ml_training.ipynb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Fraud_pipeline.ipynb</a:t>
            </a:r>
            <a:r>
              <a:rPr dirty="0"/>
              <a:t> (</a:t>
            </a:r>
            <a:r>
              <a:rPr dirty="0" err="1"/>
              <a:t>tekrarlanabilir</a:t>
            </a:r>
            <a:r>
              <a:rPr dirty="0"/>
              <a:t> </a:t>
            </a:r>
            <a:r>
              <a:rPr dirty="0" err="1"/>
              <a:t>deney</a:t>
            </a:r>
            <a:r>
              <a:rPr dirty="0"/>
              <a:t>)</a:t>
            </a:r>
          </a:p>
          <a:p>
            <a:pPr>
              <a:defRPr sz="1800"/>
            </a:pPr>
            <a:r>
              <a:rPr dirty="0"/>
              <a:t>Veri </a:t>
            </a:r>
            <a:r>
              <a:rPr dirty="0" err="1"/>
              <a:t>bölme</a:t>
            </a:r>
            <a:r>
              <a:rPr dirty="0"/>
              <a:t>: Train/Validation/Test (</a:t>
            </a:r>
            <a:r>
              <a:rPr dirty="0" err="1"/>
              <a:t>oranlar</a:t>
            </a:r>
            <a:r>
              <a:rPr dirty="0"/>
              <a:t> </a:t>
            </a:r>
            <a:r>
              <a:rPr dirty="0" err="1"/>
              <a:t>raporda</a:t>
            </a:r>
            <a:r>
              <a:rPr dirty="0"/>
              <a:t> </a:t>
            </a:r>
            <a:r>
              <a:rPr dirty="0" err="1"/>
              <a:t>belirtilmiştir</a:t>
            </a:r>
            <a:r>
              <a:rPr dirty="0"/>
              <a:t>)</a:t>
            </a:r>
            <a:endParaRPr lang="tr-TR" dirty="0"/>
          </a:p>
          <a:p>
            <a:pPr>
              <a:defRPr sz="1800"/>
            </a:pPr>
            <a:endParaRPr dirty="0"/>
          </a:p>
        </p:txBody>
      </p:sp>
      <p:pic>
        <p:nvPicPr>
          <p:cNvPr id="3" name="Resim 2" descr="yazılım, metin, multimedya yazılımı, grafik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32727BC-244C-719A-DE60-63736ABD3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6" y="3425717"/>
            <a:ext cx="4135901" cy="3000374"/>
          </a:xfrm>
          <a:prstGeom prst="rect">
            <a:avLst/>
          </a:prstGeom>
        </p:spPr>
      </p:pic>
      <p:pic>
        <p:nvPicPr>
          <p:cNvPr id="7" name="Resim 6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263B85B-3EF2-CDD1-4FDD-1EC5DC761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335" y="3425717"/>
            <a:ext cx="3856470" cy="2875810"/>
          </a:xfrm>
          <a:prstGeom prst="rect">
            <a:avLst/>
          </a:prstGeom>
        </p:spPr>
      </p:pic>
      <p:pic>
        <p:nvPicPr>
          <p:cNvPr id="9" name="Resim 8" descr="metin, ekran görüntüsü, yazı tipi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5CCDD84-39A1-0381-98E2-6598229AA0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943" y="3425716"/>
            <a:ext cx="4104761" cy="322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299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171EDFC-FC49-FC60-03BB-5D108DF0F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EDA Bulguları ve ML İş Akışı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İçerik Yer Tutucusu 2">
            <a:extLst>
              <a:ext uri="{FF2B5EF4-FFF2-40B4-BE49-F238E27FC236}">
                <a16:creationId xmlns:a16="http://schemas.microsoft.com/office/drawing/2014/main" id="{00198B9F-9D55-E9DE-084D-D761DFBC4F92}"/>
              </a:ext>
            </a:extLst>
          </p:cNvPr>
          <p:cNvSpPr txBox="1">
            <a:spLocks/>
          </p:cNvSpPr>
          <p:nvPr/>
        </p:nvSpPr>
        <p:spPr>
          <a:xfrm>
            <a:off x="6299200" y="703385"/>
            <a:ext cx="5054600" cy="54735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/>
            </a:pPr>
            <a:r>
              <a:rPr dirty="0"/>
              <a:t>EDA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temel</a:t>
            </a:r>
            <a:r>
              <a:rPr dirty="0"/>
              <a:t> </a:t>
            </a:r>
            <a:r>
              <a:rPr dirty="0" err="1"/>
              <a:t>veri</a:t>
            </a:r>
            <a:r>
              <a:rPr dirty="0"/>
              <a:t> </a:t>
            </a:r>
            <a:r>
              <a:rPr dirty="0" err="1"/>
              <a:t>dağılımları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olası</a:t>
            </a:r>
            <a:r>
              <a:rPr dirty="0"/>
              <a:t> </a:t>
            </a:r>
            <a:r>
              <a:rPr dirty="0" err="1"/>
              <a:t>dengesizlikler</a:t>
            </a:r>
            <a:r>
              <a:rPr dirty="0"/>
              <a:t> </a:t>
            </a:r>
            <a:r>
              <a:rPr dirty="0" err="1"/>
              <a:t>incelendi</a:t>
            </a:r>
            <a:r>
              <a:rPr dirty="0"/>
              <a:t>.</a:t>
            </a:r>
          </a:p>
          <a:p>
            <a:pPr>
              <a:defRPr sz="1400"/>
            </a:pPr>
            <a:r>
              <a:rPr dirty="0" err="1"/>
              <a:t>Ön</a:t>
            </a:r>
            <a:r>
              <a:rPr dirty="0"/>
              <a:t> </a:t>
            </a:r>
            <a:r>
              <a:rPr dirty="0" err="1"/>
              <a:t>işleme</a:t>
            </a:r>
            <a:r>
              <a:rPr dirty="0"/>
              <a:t> </a:t>
            </a:r>
            <a:r>
              <a:rPr dirty="0" err="1"/>
              <a:t>adımları</a:t>
            </a:r>
            <a:r>
              <a:rPr dirty="0"/>
              <a:t> pipeline </a:t>
            </a:r>
            <a:r>
              <a:rPr dirty="0" err="1"/>
              <a:t>içinde</a:t>
            </a:r>
            <a:r>
              <a:rPr dirty="0"/>
              <a:t> </a:t>
            </a:r>
            <a:r>
              <a:rPr dirty="0" err="1"/>
              <a:t>sabitlendi</a:t>
            </a:r>
            <a:r>
              <a:rPr dirty="0"/>
              <a:t> (</a:t>
            </a:r>
            <a:r>
              <a:rPr dirty="0" err="1"/>
              <a:t>aynı</a:t>
            </a:r>
            <a:r>
              <a:rPr dirty="0"/>
              <a:t> </a:t>
            </a:r>
            <a:r>
              <a:rPr dirty="0" err="1"/>
              <a:t>dönüşümler</a:t>
            </a:r>
            <a:r>
              <a:rPr dirty="0"/>
              <a:t> </a:t>
            </a:r>
            <a:r>
              <a:rPr dirty="0" err="1"/>
              <a:t>servis</a:t>
            </a:r>
            <a:r>
              <a:rPr dirty="0"/>
              <a:t> </a:t>
            </a:r>
            <a:r>
              <a:rPr dirty="0" err="1"/>
              <a:t>tarafında</a:t>
            </a:r>
            <a:r>
              <a:rPr dirty="0"/>
              <a:t> da </a:t>
            </a:r>
            <a:r>
              <a:rPr dirty="0" err="1"/>
              <a:t>uygulanır</a:t>
            </a:r>
            <a:r>
              <a:rPr dirty="0"/>
              <a:t>).</a:t>
            </a:r>
          </a:p>
          <a:p>
            <a:pPr>
              <a:defRPr sz="1400"/>
            </a:pPr>
            <a:r>
              <a:rPr dirty="0" err="1"/>
              <a:t>Eğitim</a:t>
            </a:r>
            <a:r>
              <a:rPr dirty="0"/>
              <a:t> </a:t>
            </a:r>
            <a:r>
              <a:rPr dirty="0" err="1"/>
              <a:t>sonrası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iyi pipeline </a:t>
            </a:r>
            <a:r>
              <a:rPr dirty="0" err="1"/>
              <a:t>joblib</a:t>
            </a:r>
            <a:r>
              <a:rPr dirty="0"/>
              <a:t> </a:t>
            </a:r>
            <a:r>
              <a:rPr dirty="0" err="1"/>
              <a:t>olarak</a:t>
            </a:r>
            <a:r>
              <a:rPr dirty="0"/>
              <a:t> </a:t>
            </a:r>
            <a:r>
              <a:rPr dirty="0" err="1"/>
              <a:t>kaydedildi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servis</a:t>
            </a:r>
            <a:r>
              <a:rPr dirty="0"/>
              <a:t> </a:t>
            </a:r>
            <a:r>
              <a:rPr dirty="0" err="1"/>
              <a:t>tarafından</a:t>
            </a:r>
            <a:r>
              <a:rPr dirty="0"/>
              <a:t> </a:t>
            </a:r>
            <a:r>
              <a:rPr dirty="0" err="1"/>
              <a:t>yüklendi</a:t>
            </a:r>
            <a:r>
              <a:rPr dirty="0"/>
              <a:t>.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2637085-6FD7-011C-8C8A-0FF891E292D0}"/>
              </a:ext>
            </a:extLst>
          </p:cNvPr>
          <p:cNvSpPr txBox="1"/>
          <p:nvPr/>
        </p:nvSpPr>
        <p:spPr>
          <a:xfrm>
            <a:off x="838200" y="6176963"/>
            <a:ext cx="2051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1200"/>
            </a:pPr>
            <a:r>
              <a:t>Şekil 1. Uçtan uca ML iş akışı (EDA → Pipeline → Eğitim → Model Artefact → Flask Servisi)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9838" y="2695892"/>
            <a:ext cx="665522" cy="2393235"/>
          </a:xfrm>
          <a:prstGeom prst="rect">
            <a:avLst/>
          </a:prstGeom>
          <a:solidFill>
            <a:srgbClr val="F0F0F0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Veri</a:t>
            </a:r>
            <a:br/>
            <a:r>
              <a:t>(islemler_final.csv)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06998" y="2695892"/>
            <a:ext cx="665522" cy="2393235"/>
          </a:xfrm>
          <a:prstGeom prst="rect">
            <a:avLst/>
          </a:prstGeom>
          <a:solidFill>
            <a:srgbClr val="F0F0F0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EDA</a:t>
            </a:r>
            <a:br/>
            <a:r>
              <a:t>&amp; Temizleme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24158" y="2695892"/>
            <a:ext cx="665522" cy="2393235"/>
          </a:xfrm>
          <a:prstGeom prst="rect">
            <a:avLst/>
          </a:prstGeom>
          <a:solidFill>
            <a:srgbClr val="F0F0F0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Ön İşleme</a:t>
            </a:r>
            <a:br/>
            <a:r>
              <a:t>(Pipeline)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41318" y="2695892"/>
            <a:ext cx="665522" cy="2393235"/>
          </a:xfrm>
          <a:prstGeom prst="rect">
            <a:avLst/>
          </a:prstGeom>
          <a:solidFill>
            <a:srgbClr val="F0F0F0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Model Eğitimi</a:t>
            </a:r>
            <a:br/>
            <a:r>
              <a:t>&amp; Değerlendirme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8478" y="2695892"/>
            <a:ext cx="665522" cy="2393235"/>
          </a:xfrm>
          <a:prstGeom prst="rect">
            <a:avLst/>
          </a:prstGeom>
          <a:solidFill>
            <a:srgbClr val="F0F0F0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Artefact</a:t>
            </a:r>
            <a:br/>
            <a:r>
              <a:t>fraud_pipeline.joblib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5638" y="2695892"/>
            <a:ext cx="665522" cy="2393235"/>
          </a:xfrm>
          <a:prstGeom prst="rect">
            <a:avLst/>
          </a:prstGeom>
          <a:solidFill>
            <a:srgbClr val="F0F0F0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Flask Servisi</a:t>
            </a:r>
            <a:br/>
            <a:r>
              <a:t>/health, /predict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55360" y="3892509"/>
            <a:ext cx="151638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472520" y="3892509"/>
            <a:ext cx="151638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289680" y="3892509"/>
            <a:ext cx="151638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106840" y="3892509"/>
            <a:ext cx="151638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24000" y="3892509"/>
            <a:ext cx="151638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Resim 3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2921950-1F49-B251-C919-302D91902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844269"/>
            <a:ext cx="5900596" cy="178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548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AEF4C1-520F-685C-B172-0D40B94B6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Model, Artefact ve Servis Bileşenleri</a:t>
            </a:r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o 6">
            <a:extLst>
              <a:ext uri="{FF2B5EF4-FFF2-40B4-BE49-F238E27FC236}">
                <a16:creationId xmlns:a16="http://schemas.microsoft.com/office/drawing/2014/main" id="{34B4302D-9E08-999B-71BC-A7E82856D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794605"/>
              </p:ext>
            </p:extLst>
          </p:nvPr>
        </p:nvGraphicFramePr>
        <p:xfrm>
          <a:off x="838199" y="1922585"/>
          <a:ext cx="5181602" cy="3329354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786453">
                  <a:extLst>
                    <a:ext uri="{9D8B030D-6E8A-4147-A177-3AD203B41FA5}">
                      <a16:colId xmlns:a16="http://schemas.microsoft.com/office/drawing/2014/main" val="2972339933"/>
                    </a:ext>
                  </a:extLst>
                </a:gridCol>
                <a:gridCol w="1100952">
                  <a:extLst>
                    <a:ext uri="{9D8B030D-6E8A-4147-A177-3AD203B41FA5}">
                      <a16:colId xmlns:a16="http://schemas.microsoft.com/office/drawing/2014/main" val="3418866186"/>
                    </a:ext>
                  </a:extLst>
                </a:gridCol>
                <a:gridCol w="1101403">
                  <a:extLst>
                    <a:ext uri="{9D8B030D-6E8A-4147-A177-3AD203B41FA5}">
                      <a16:colId xmlns:a16="http://schemas.microsoft.com/office/drawing/2014/main" val="3036885432"/>
                    </a:ext>
                  </a:extLst>
                </a:gridCol>
                <a:gridCol w="1121429">
                  <a:extLst>
                    <a:ext uri="{9D8B030D-6E8A-4147-A177-3AD203B41FA5}">
                      <a16:colId xmlns:a16="http://schemas.microsoft.com/office/drawing/2014/main" val="186200420"/>
                    </a:ext>
                  </a:extLst>
                </a:gridCol>
                <a:gridCol w="1071365">
                  <a:extLst>
                    <a:ext uri="{9D8B030D-6E8A-4147-A177-3AD203B41FA5}">
                      <a16:colId xmlns:a16="http://schemas.microsoft.com/office/drawing/2014/main" val="2315567714"/>
                    </a:ext>
                  </a:extLst>
                </a:gridCol>
              </a:tblGrid>
              <a:tr h="536993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Katman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Dosya/Modül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Ne yapıyor?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Girdi/Çıktı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Kanıt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554868"/>
                  </a:ext>
                </a:extLst>
              </a:tr>
              <a:tr h="501193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Veri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islemler_final.csv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İşlem kayıtları + hedef etiket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CSV → </a:t>
                      </a:r>
                      <a:r>
                        <a:rPr dirty="0" err="1"/>
                        <a:t>DataFrame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Dosya/örnek satırlar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728038"/>
                  </a:ext>
                </a:extLst>
              </a:tr>
              <a:tr h="69809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EDA &amp; Eğitim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Fraud_ml_training.ipynb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EDA, özellik hazırlama, model eğitimi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Train/Val/Test → metrikler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Notebook çıktısı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730976"/>
                  </a:ext>
                </a:extLst>
              </a:tr>
              <a:tr h="89498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Fraud_pipeline.ipynb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Ön işleme + model bileşenlerini birleştirir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Ham özellikler → dönüştürülmüş özellikler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Pipeline tanımı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307466"/>
                  </a:ext>
                </a:extLst>
              </a:tr>
              <a:tr h="69809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Model Artefact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fraud_pipeline.joblib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Eğitilmiş pipeline (binary)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joblib.load → model objesi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Load </a:t>
                      </a:r>
                      <a:r>
                        <a:rPr dirty="0" err="1"/>
                        <a:t>testi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560771"/>
                  </a:ext>
                </a:extLst>
              </a:tr>
            </a:tbl>
          </a:graphicData>
        </a:graphic>
      </p:graphicFrame>
      <p:sp>
        <p:nvSpPr>
          <p:cNvPr id="8" name="Metin kutusu 7">
            <a:extLst>
              <a:ext uri="{FF2B5EF4-FFF2-40B4-BE49-F238E27FC236}">
                <a16:creationId xmlns:a16="http://schemas.microsoft.com/office/drawing/2014/main" id="{49BA3292-4466-B0E7-29F2-E3426707DDD7}"/>
              </a:ext>
            </a:extLst>
          </p:cNvPr>
          <p:cNvSpPr txBox="1"/>
          <p:nvPr/>
        </p:nvSpPr>
        <p:spPr>
          <a:xfrm>
            <a:off x="791446" y="4521954"/>
            <a:ext cx="2693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200"/>
            </a:pPr>
            <a:r>
              <a:t>Tablo 1. ML bileşenleri ve üretilen artefact’ler</a:t>
            </a:r>
          </a:p>
        </p:txBody>
      </p:sp>
    </p:spTree>
    <p:extLst>
      <p:ext uri="{BB962C8B-B14F-4D97-AF65-F5344CB8AC3E}">
        <p14:creationId xmlns:p14="http://schemas.microsoft.com/office/powerpoint/2010/main" val="2162518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şlık 6">
            <a:extLst>
              <a:ext uri="{FF2B5EF4-FFF2-40B4-BE49-F238E27FC236}">
                <a16:creationId xmlns:a16="http://schemas.microsoft.com/office/drawing/2014/main" id="{76E850AE-20B5-6DEE-892E-D4D0F2B6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Servisleştirme (Flask) ve API Testi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Resim Yer Tutucusu 7" descr="api_test_mock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700" r="15700"/>
          <a:stretch>
            <a:fillRect/>
          </a:stretch>
        </p:blipFill>
        <p:spPr/>
      </p:pic>
      <p:sp>
        <p:nvSpPr>
          <p:cNvPr id="9" name="Metin Yer Tutucusu 8">
            <a:extLst>
              <a:ext uri="{FF2B5EF4-FFF2-40B4-BE49-F238E27FC236}">
                <a16:creationId xmlns:a16="http://schemas.microsoft.com/office/drawing/2014/main" id="{70137D59-2C39-7D53-4174-D7054A9FB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>
              <a:defRPr sz="1600"/>
            </a:pPr>
            <a:r>
              <a:t>Servis: Flask tabanlı REST API (localhost:5000).</a:t>
            </a:r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/>
            </a:pPr>
            <a:r>
              <a:t>GET /health → servis ayakta kontrolü (status: ok).</a:t>
            </a:r>
          </a:p>
          <a:p>
            <a:pPr>
              <a:defRPr sz="1600"/>
            </a:pPr>
            <a:r>
              <a:t>POST /predict → JSON girişini alır, pipeline ile dönüştürür, tahmin sonucunu JSON döndürür.</a:t>
            </a:r>
          </a:p>
          <a:p>
            <a:pPr>
              <a:defRPr sz="1600"/>
            </a:pPr>
            <a:r>
              <a:t>Model yükleme: fraud_pipeline.joblib (joblib ile).</a:t>
            </a:r>
          </a:p>
          <a:p>
            <a:pPr>
              <a:defRPr sz="1600"/>
            </a:pPr>
            <a:r>
              <a:t>Demo: curl/Postman ile istek atıp sonucu UI tarafında gösterecek şekilde entegre edildi.</a:t>
            </a:r>
          </a:p>
        </p:txBody>
      </p:sp>
    </p:spTree>
    <p:extLst>
      <p:ext uri="{BB962C8B-B14F-4D97-AF65-F5344CB8AC3E}">
        <p14:creationId xmlns:p14="http://schemas.microsoft.com/office/powerpoint/2010/main" val="2725478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05CE93B-40B6-CC3D-5BF5-4ECB9EEC0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rPr dirty="0" err="1"/>
              <a:t>Kaynakça</a:t>
            </a:r>
            <a:endParaRPr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5B82483-4CC6-3E00-4637-9A8ED5FD6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600"/>
            </a:pPr>
            <a:r>
              <a:rPr sz="2400" dirty="0"/>
              <a:t>[1] </a:t>
            </a:r>
            <a:r>
              <a:rPr lang="tr-TR" sz="2400" dirty="0" err="1"/>
              <a:t>https</a:t>
            </a:r>
            <a:r>
              <a:rPr lang="tr-TR" sz="2400" dirty="0"/>
              <a:t>://</a:t>
            </a:r>
            <a:r>
              <a:rPr lang="tr-TR" sz="2400" dirty="0" err="1"/>
              <a:t>github.com</a:t>
            </a:r>
            <a:r>
              <a:rPr lang="tr-TR" sz="2400" dirty="0"/>
              <a:t>/ireemkaya1/</a:t>
            </a:r>
            <a:r>
              <a:rPr lang="tr-TR" sz="2400" dirty="0" err="1"/>
              <a:t>SheildPay</a:t>
            </a:r>
            <a:endParaRPr lang="tr-TR" sz="2400" dirty="0"/>
          </a:p>
          <a:p>
            <a:pPr marL="0" indent="0">
              <a:buNone/>
              <a:defRPr sz="1600"/>
            </a:pPr>
            <a:r>
              <a:rPr sz="2400" dirty="0"/>
              <a:t>[2] scikit-learn – Model persistence (</a:t>
            </a:r>
            <a:r>
              <a:rPr sz="2400" dirty="0" err="1"/>
              <a:t>joblib</a:t>
            </a:r>
            <a:r>
              <a:rPr sz="2400" dirty="0"/>
              <a:t>) </a:t>
            </a:r>
            <a:r>
              <a:rPr sz="2400" dirty="0" err="1"/>
              <a:t>ve</a:t>
            </a:r>
            <a:r>
              <a:rPr sz="2400" dirty="0"/>
              <a:t> </a:t>
            </a:r>
            <a:r>
              <a:rPr sz="2400" dirty="0" err="1"/>
              <a:t>güvenlik</a:t>
            </a:r>
            <a:r>
              <a:rPr sz="2400" dirty="0"/>
              <a:t> </a:t>
            </a:r>
            <a:r>
              <a:rPr sz="2400" dirty="0" err="1"/>
              <a:t>notları</a:t>
            </a:r>
            <a:endParaRPr sz="2400" dirty="0"/>
          </a:p>
          <a:p>
            <a:pPr marL="0" indent="0">
              <a:buNone/>
              <a:defRPr sz="1600"/>
            </a:pPr>
            <a:r>
              <a:rPr sz="2400" dirty="0"/>
              <a:t>[3] </a:t>
            </a:r>
            <a:r>
              <a:rPr sz="2400" dirty="0" err="1"/>
              <a:t>joblib</a:t>
            </a:r>
            <a:r>
              <a:rPr sz="2400" dirty="0"/>
              <a:t>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629809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DC66BCBAFA9FD94F8D3AE88B09CBDA62" ma:contentTypeVersion="11" ma:contentTypeDescription="Yeni belge oluşturun." ma:contentTypeScope="" ma:versionID="5c6d65bca0098c9f67b324481edb7838">
  <xsd:schema xmlns:xsd="http://www.w3.org/2001/XMLSchema" xmlns:xs="http://www.w3.org/2001/XMLSchema" xmlns:p="http://schemas.microsoft.com/office/2006/metadata/properties" xmlns:ns2="87dbed84-ea2d-4c81-9032-b351b004c82c" xmlns:ns3="a24ab77b-6ebf-4ea1-95fd-d7fd9a65aae6" targetNamespace="http://schemas.microsoft.com/office/2006/metadata/properties" ma:root="true" ma:fieldsID="1b028453ee11600842d1878e55e2ecfb" ns2:_="" ns3:_="">
    <xsd:import namespace="87dbed84-ea2d-4c81-9032-b351b004c82c"/>
    <xsd:import namespace="a24ab77b-6ebf-4ea1-95fd-d7fd9a65aa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bed84-ea2d-4c81-9032-b351b004c8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Resim Etiketleri" ma:readOnly="false" ma:fieldId="{5cf76f15-5ced-4ddc-b409-7134ff3c332f}" ma:taxonomyMulti="true" ma:sspId="25b86514-8e1d-4ede-91c0-90ec09b573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4ab77b-6ebf-4ea1-95fd-d7fd9a65aae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9227fdd-dbee-487c-82d5-2f71b21c7659}" ma:internalName="TaxCatchAll" ma:showField="CatchAllData" ma:web="a24ab77b-6ebf-4ea1-95fd-d7fd9a65aae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24ab77b-6ebf-4ea1-95fd-d7fd9a65aae6" xsi:nil="true"/>
    <lcf76f155ced4ddcb4097134ff3c332f xmlns="87dbed84-ea2d-4c81-9032-b351b004c82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B31CFC4-FF69-4C1E-98F6-1585390A899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4A3C9B-22E1-48DF-9B6A-A8B7A0993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dbed84-ea2d-4c81-9032-b351b004c82c"/>
    <ds:schemaRef ds:uri="a24ab77b-6ebf-4ea1-95fd-d7fd9a65aa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1FEAE1B-5360-42E5-99A5-B826BFFFC3A1}">
  <ds:schemaRefs>
    <ds:schemaRef ds:uri="http://schemas.microsoft.com/office/2006/metadata/properties"/>
    <ds:schemaRef ds:uri="http://schemas.microsoft.com/office/infopath/2007/PartnerControls"/>
    <ds:schemaRef ds:uri="a24ab77b-6ebf-4ea1-95fd-d7fd9a65aae6"/>
    <ds:schemaRef ds:uri="87dbed84-ea2d-4c81-9032-b351b004c82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519</Words>
  <Application>Microsoft Macintosh PowerPoint</Application>
  <PresentationFormat>Geniş ekran</PresentationFormat>
  <Paragraphs>67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Teması</vt:lpstr>
      <vt:lpstr>ShieldPay – İşlem Dolandırıcılığı (Fraud) Tespit Sistemi</vt:lpstr>
      <vt:lpstr>Proje organizasyonu</vt:lpstr>
      <vt:lpstr>1. Veri Seti ve Keşif Analizi (EDA)</vt:lpstr>
      <vt:lpstr>Veri Seti Özeti (islemler_final.csv)</vt:lpstr>
      <vt:lpstr>EDA Bulguları ve ML İş Akışı</vt:lpstr>
      <vt:lpstr>Model, Artefact ve Servis Bileşenleri</vt:lpstr>
      <vt:lpstr>Servisleştirme (Flask) ve API Testi</vt:lpstr>
      <vt:lpstr>Kaynakça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GÜNEY KAYA</dc:creator>
  <cp:lastModifiedBy>İREM K. 232803060</cp:lastModifiedBy>
  <cp:revision>9</cp:revision>
  <dcterms:created xsi:type="dcterms:W3CDTF">2025-12-08T13:02:36Z</dcterms:created>
  <dcterms:modified xsi:type="dcterms:W3CDTF">2025-12-24T06:34:44Z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0x010100DC66BCBAFA9FD94F8D3AE88B09CBDA62</vt:lpwstr>
  </property>
</Properties>
</file>