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64" r:id="rId6"/>
    <p:sldId id="261" r:id="rId7"/>
    <p:sldId id="266" r:id="rId8"/>
    <p:sldId id="257" r:id="rId9"/>
    <p:sldId id="260" r:id="rId10"/>
    <p:sldId id="265" r:id="rId11"/>
    <p:sldId id="262" r:id="rId12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Orta Stil 3 - Vurgu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94667"/>
  </p:normalViewPr>
  <p:slideViewPr>
    <p:cSldViewPr snapToGrid="0">
      <p:cViewPr varScale="1">
        <p:scale>
          <a:sx n="122" d="100"/>
          <a:sy n="122" d="100"/>
        </p:scale>
        <p:origin x="224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1739CF8-8298-E37A-2562-CE79BDB53E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56824CC9-88E2-023D-4A48-5BA4CE8DAC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72503F63-785A-B62D-DA62-B5999DE2B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EFBC9-785F-44AE-920F-AF9711AA82D2}" type="datetimeFigureOut">
              <a:rPr lang="tr-TR" smtClean="0"/>
              <a:t>23.12.2025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46FB5588-0DBD-065B-7482-4E4B09539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AF6A5B65-0251-77AE-43A5-E7549C829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D4DCB-3A80-4C53-BCF2-00CB7939415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66503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73F5979-3049-459C-FE15-1E1AEBEAD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CFC0D80-A505-84EA-F415-3BE446B49C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B7F39C76-0C08-E221-01EB-CB8D9F03C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EFBC9-785F-44AE-920F-AF9711AA82D2}" type="datetimeFigureOut">
              <a:rPr lang="tr-TR" smtClean="0"/>
              <a:t>23.12.2025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12EF8D0E-97AF-3762-3DE2-B48DDFC6B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F51C770F-F4C7-DBA5-1A3A-5B778467E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D4DCB-3A80-4C53-BCF2-00CB7939415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93504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29A86A8-2C25-FF70-9D5D-BA36D631A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EBDD33F9-8836-3217-8361-55F8BED9D1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5201E109-7DF2-56D0-B405-E1508350D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EFBC9-785F-44AE-920F-AF9711AA82D2}" type="datetimeFigureOut">
              <a:rPr lang="tr-TR" smtClean="0"/>
              <a:t>23.12.2025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EC071A18-7935-0444-7A0E-54AA1E579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B6F78A92-6020-9D96-E656-3821B7F6B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D4DCB-3A80-4C53-BCF2-00CB7939415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92115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03D6676-28DB-8FCC-DED0-FE16885FE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CAF121A-7313-0575-773B-C3AE256F54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249590C6-882F-365F-3C7A-F6E7C05779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DEC0629D-161E-6D61-BAD4-83E9C3905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EFBC9-785F-44AE-920F-AF9711AA82D2}" type="datetimeFigureOut">
              <a:rPr lang="tr-TR" smtClean="0"/>
              <a:t>23.12.2025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EA6D61F1-1977-21BF-85E8-C94D1FC61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61D2177A-033F-A3A9-FD0C-F831BB79E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D4DCB-3A80-4C53-BCF2-00CB7939415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10616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0BBB928-1A45-4480-B6C1-72D44771F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1298393B-D63A-DDF6-C9B2-4A8CE2D562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A6CB6F5A-8973-DACE-F59D-F9DFD1194C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458FD6F3-D405-C525-822D-D34530CDCF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52CB93B9-BA64-199B-D6B2-5ADA4CCCA5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BD02BC17-E432-9198-C233-4F0B057E3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EFBC9-785F-44AE-920F-AF9711AA82D2}" type="datetimeFigureOut">
              <a:rPr lang="tr-TR" smtClean="0"/>
              <a:t>23.12.2025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49DB5E4A-0B41-7A8D-44CC-8A0DE3A79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31ECA242-790E-B182-5E30-298ED8386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D4DCB-3A80-4C53-BCF2-00CB7939415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970310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AA29FFC-A79C-3312-4FB5-AAD129E2F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AADF50EA-8925-95C9-9063-685A5B472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EFBC9-785F-44AE-920F-AF9711AA82D2}" type="datetimeFigureOut">
              <a:rPr lang="tr-TR" smtClean="0"/>
              <a:t>23.12.2025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14F3B3DF-129E-C253-96D1-71B4352E6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0B7218E8-81FD-B902-CF0A-C07000F16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D4DCB-3A80-4C53-BCF2-00CB7939415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691436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465DF859-C9FD-95AF-B6EF-1AAB4E227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EFBC9-785F-44AE-920F-AF9711AA82D2}" type="datetimeFigureOut">
              <a:rPr lang="tr-TR" smtClean="0"/>
              <a:t>23.12.2025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506D7D6F-437D-26B9-137D-4B4B10330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E2624FFC-49EB-374E-E77A-2EFAFE6AE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D4DCB-3A80-4C53-BCF2-00CB7939415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639560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86B9F10-8805-C42A-CA6F-991B75EAD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A65E986B-857C-DB9D-A174-E43548036F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5A22C2D7-073A-18E6-C395-7421A41F71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ECC42147-BAD2-8607-F505-1A250A2AD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EFBC9-785F-44AE-920F-AF9711AA82D2}" type="datetimeFigureOut">
              <a:rPr lang="tr-TR" smtClean="0"/>
              <a:t>23.12.2025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D592A12C-1DA6-915F-E19F-A25DDE243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51679FC0-3D13-0D37-9605-BE5E77E6A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D4DCB-3A80-4C53-BCF2-00CB7939415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253285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F48D9D1-3D3A-E8DC-7FD7-7FFD3AA54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2A1DAB14-57E3-C300-6A2E-6CE09FB7CD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5F7BFD3B-6E60-9D2E-C425-4D46E589CB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E1CBF044-450B-521A-5AD3-689360353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EFBC9-785F-44AE-920F-AF9711AA82D2}" type="datetimeFigureOut">
              <a:rPr lang="tr-TR" smtClean="0"/>
              <a:t>23.12.2025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9B799F27-EE68-A4C0-142B-6F8CA917C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8B75E91B-A00E-5EB9-BDA5-890ECC16B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D4DCB-3A80-4C53-BCF2-00CB7939415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284791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45E3758-4574-EA62-CB25-38E0F43EF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090045B8-C295-F70E-7AB6-0A9B2BAF38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0C801BC4-1BD7-71E0-6A1B-66762FD03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EFBC9-785F-44AE-920F-AF9711AA82D2}" type="datetimeFigureOut">
              <a:rPr lang="tr-TR" smtClean="0"/>
              <a:t>23.12.2025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06A00221-A99F-1067-8067-FD80521C2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2A5107AA-F793-3EFE-8D89-64060BA88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D4DCB-3A80-4C53-BCF2-00CB7939415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200185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5484205E-D92A-01B5-0931-F55C1B2AB9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6749DB11-94E2-1D51-AE53-EFB2D8345B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FD0DF85D-DBD6-FCE4-CF66-01026D859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EFBC9-785F-44AE-920F-AF9711AA82D2}" type="datetimeFigureOut">
              <a:rPr lang="tr-TR" smtClean="0"/>
              <a:t>23.12.2025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C2FABE62-6132-46BD-4BA8-4FDF71908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557DC99E-4E13-3D74-CBCD-D59D54F6D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D4DCB-3A80-4C53-BCF2-00CB7939415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61957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4527C1EB-82C7-C9E5-55DD-8CD630F7AB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4CEF6ADF-EA12-6339-7C26-28A34D4E95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2A95B47D-8416-4526-C15B-0C791AC259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5EFBC9-785F-44AE-920F-AF9711AA82D2}" type="datetimeFigureOut">
              <a:rPr lang="tr-TR" smtClean="0"/>
              <a:t>23.12.2025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8E9486F2-1FC4-3C52-DF84-7F45E80BCF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6D262043-5178-8C0B-2700-F61B290CCE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4D4DCB-3A80-4C53-BCF2-00CB7939415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79828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dev.mysql.com/doc/" TargetMode="External"/><Relationship Id="rId2" Type="http://schemas.openxmlformats.org/officeDocument/2006/relationships/hyperlink" Target="https://github.com/ireemkaya1/SheildPay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ev.mysql.com/doc/workbench/en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rgbClr val="00B0F0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7ED5AC6-ED53-0289-C30D-8F98BA0B20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7861" y="1303283"/>
            <a:ext cx="11613931" cy="1534510"/>
          </a:xfrm>
        </p:spPr>
        <p:txBody>
          <a:bodyPr>
            <a:normAutofit fontScale="90000"/>
          </a:bodyPr>
          <a:lstStyle/>
          <a:p>
            <a:pPr fontAlgn="base"/>
            <a:br>
              <a:rPr lang="tr-TR" dirty="0"/>
            </a:br>
            <a:br>
              <a:rPr lang="tr-TR" dirty="0"/>
            </a:br>
            <a:br>
              <a:rPr lang="tr-TR" dirty="0"/>
            </a:br>
            <a:br>
              <a:rPr lang="tr-TR" dirty="0"/>
            </a:br>
            <a:r>
              <a:rPr lang="tr-TR" dirty="0" err="1"/>
              <a:t>Shieldpay</a:t>
            </a:r>
            <a:r>
              <a:rPr lang="tr-TR" dirty="0"/>
              <a:t> Ödeme Sistemi </a:t>
            </a:r>
            <a:r>
              <a:rPr lang="tr-TR" dirty="0" err="1"/>
              <a:t>Veritabanı</a:t>
            </a:r>
            <a:r>
              <a:rPr lang="tr-TR" dirty="0"/>
              <a:t> Yönetimi</a:t>
            </a:r>
            <a:endParaRPr lang="tr-T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CC564396-A96D-2DE4-AC10-951A7A9538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079531"/>
            <a:ext cx="9144000" cy="3387945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YZM 3107-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Veritabanı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Yönetim Sistemleri</a:t>
            </a:r>
          </a:p>
          <a:p>
            <a:pPr>
              <a:lnSpc>
                <a:spcPct val="120000"/>
              </a:lnSpc>
            </a:pP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232803060 İrem KAYA</a:t>
            </a:r>
          </a:p>
          <a:p>
            <a:pPr>
              <a:lnSpc>
                <a:spcPct val="120000"/>
              </a:lnSpc>
            </a:pP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Doç. Dr. Yusuf ÖZÇEVİK</a:t>
            </a:r>
          </a:p>
          <a:p>
            <a:pPr>
              <a:lnSpc>
                <a:spcPct val="120000"/>
              </a:lnSpc>
            </a:pP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Hasan Ferdi Turgutlu Teknoloji Fakültesi- Yazılım Mühendisliği</a:t>
            </a:r>
          </a:p>
          <a:p>
            <a:pPr>
              <a:lnSpc>
                <a:spcPct val="120000"/>
              </a:lnSpc>
            </a:pP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23.12.2025</a:t>
            </a:r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F41E5392-C008-ECD9-8AF3-8751CF708A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5779" y="73573"/>
            <a:ext cx="2302089" cy="1229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4745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şlık 3">
            <a:extLst>
              <a:ext uri="{FF2B5EF4-FFF2-40B4-BE49-F238E27FC236}">
                <a16:creationId xmlns:a16="http://schemas.microsoft.com/office/drawing/2014/main" id="{CE82E7EC-5F8A-9830-3DF2-8B123342A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264160"/>
            <a:ext cx="6323012" cy="513080"/>
          </a:xfrm>
        </p:spPr>
        <p:txBody>
          <a:bodyPr>
            <a:normAutofit/>
          </a:bodyPr>
          <a:lstStyle/>
          <a:p>
            <a:r>
              <a:rPr lang="tr-TR" sz="2800" dirty="0"/>
              <a:t>Proje Tanımı ve Amacı</a:t>
            </a:r>
            <a:endParaRPr lang="tr-T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Metin Yer Tutucusu 5">
            <a:extLst>
              <a:ext uri="{FF2B5EF4-FFF2-40B4-BE49-F238E27FC236}">
                <a16:creationId xmlns:a16="http://schemas.microsoft.com/office/drawing/2014/main" id="{6C99A622-6A2D-7B60-A6E9-0FA88C24AD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016000"/>
            <a:ext cx="9260653" cy="5153572"/>
          </a:xfrm>
        </p:spPr>
        <p:txBody>
          <a:bodyPr>
            <a:normAutofit/>
          </a:bodyPr>
          <a:lstStyle/>
          <a:p>
            <a:pPr fontAlgn="base"/>
            <a:r>
              <a:rPr lang="tr-TR" sz="2400" dirty="0"/>
              <a:t> Bu proje, bir ödeme/finans sistemi senaryosu için ilişkisel </a:t>
            </a:r>
            <a:r>
              <a:rPr lang="tr-TR" sz="2400" dirty="0" err="1"/>
              <a:t>veritabanı</a:t>
            </a:r>
            <a:r>
              <a:rPr lang="tr-TR" sz="2400" dirty="0"/>
              <a:t> tasarlamak, SQL komutları ile tablo yapıları oluşturmak ve </a:t>
            </a:r>
            <a:r>
              <a:rPr lang="tr-TR" sz="2400" dirty="0" err="1"/>
              <a:t>veritabanı</a:t>
            </a:r>
            <a:r>
              <a:rPr lang="tr-TR" sz="2400" dirty="0"/>
              <a:t> bütünlüğünü sağlamayı amaçlamaktadır.</a:t>
            </a:r>
          </a:p>
          <a:p>
            <a:pPr fontAlgn="base"/>
            <a:endParaRPr lang="tr-TR" sz="2400" dirty="0"/>
          </a:p>
          <a:p>
            <a:r>
              <a:rPr lang="tr-TR" sz="2400" b="1" dirty="0"/>
              <a:t>Proje Kapsamı</a:t>
            </a:r>
            <a:endParaRPr lang="tr-TR" sz="2400" dirty="0"/>
          </a:p>
          <a:p>
            <a:r>
              <a:rPr lang="tr-TR" sz="2400" dirty="0"/>
              <a:t>Kullanıcı yönetimi</a:t>
            </a:r>
          </a:p>
          <a:p>
            <a:r>
              <a:rPr lang="tr-TR" sz="2400" dirty="0"/>
              <a:t>İşlem (</a:t>
            </a:r>
            <a:r>
              <a:rPr lang="tr-TR" sz="2400" dirty="0" err="1"/>
              <a:t>transaction</a:t>
            </a:r>
            <a:r>
              <a:rPr lang="tr-TR" sz="2400" dirty="0"/>
              <a:t>) kayıtları</a:t>
            </a:r>
          </a:p>
          <a:p>
            <a:r>
              <a:rPr lang="tr-TR" sz="2400" dirty="0"/>
              <a:t>Ödeme bilgilerinin tutulması</a:t>
            </a:r>
          </a:p>
          <a:p>
            <a:r>
              <a:rPr lang="tr-TR" sz="2400" dirty="0"/>
              <a:t>İlişkisel tablo yapısı</a:t>
            </a:r>
          </a:p>
          <a:p>
            <a:pPr fontAlgn="base"/>
            <a:endParaRPr lang="tr-TR" sz="2400" dirty="0"/>
          </a:p>
        </p:txBody>
      </p:sp>
    </p:spTree>
    <p:extLst>
      <p:ext uri="{BB962C8B-B14F-4D97-AF65-F5344CB8AC3E}">
        <p14:creationId xmlns:p14="http://schemas.microsoft.com/office/powerpoint/2010/main" val="1456023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430FA7B-F7B9-A4EE-6DDE-A1FB66D88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415" y="95195"/>
            <a:ext cx="10695808" cy="1071453"/>
          </a:xfrm>
        </p:spPr>
        <p:txBody>
          <a:bodyPr>
            <a:normAutofit/>
          </a:bodyPr>
          <a:lstStyle/>
          <a:p>
            <a:pPr algn="ctr"/>
            <a:r>
              <a:rPr lang="tr-TR" sz="4800" dirty="0"/>
              <a:t>VERİTABANI GENEL YAPISI</a:t>
            </a:r>
            <a:endParaRPr lang="tr-TR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6E30CE97-4C14-8359-B5BA-F3E1AFE050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1641" y="1460939"/>
            <a:ext cx="10695809" cy="4628712"/>
          </a:xfrm>
        </p:spPr>
        <p:txBody>
          <a:bodyPr/>
          <a:lstStyle/>
          <a:p>
            <a:r>
              <a:rPr lang="tr-TR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Veritabanı</a:t>
            </a:r>
            <a:r>
              <a:rPr lang="tr-TR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Tasarımı</a:t>
            </a:r>
            <a:endParaRPr lang="tr-TR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tr-T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İlişkisel </a:t>
            </a:r>
            <a:r>
              <a:rPr lang="tr-TR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veritabanı</a:t>
            </a:r>
            <a:r>
              <a:rPr lang="tr-T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modeli kullanılmıştır</a:t>
            </a:r>
          </a:p>
          <a:p>
            <a:r>
              <a:rPr lang="tr-T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Tablolar arasında </a:t>
            </a:r>
            <a:r>
              <a:rPr lang="tr-TR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Primary</a:t>
            </a:r>
            <a:r>
              <a:rPr lang="tr-TR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tr-TR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Key</a:t>
            </a:r>
            <a:r>
              <a:rPr lang="tr-TR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– </a:t>
            </a:r>
            <a:r>
              <a:rPr lang="tr-TR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Foreign</a:t>
            </a:r>
            <a:r>
              <a:rPr lang="tr-TR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tr-TR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Key</a:t>
            </a:r>
            <a:r>
              <a:rPr lang="tr-TR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tr-T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ilişkileri kurulmuştur</a:t>
            </a:r>
          </a:p>
          <a:p>
            <a:r>
              <a:rPr lang="tr-T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Veri tekrarını önleyen normalize yapı tercih edilmiştir</a:t>
            </a:r>
          </a:p>
          <a:p>
            <a:r>
              <a:rPr lang="tr-TR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Genel Özellikler</a:t>
            </a:r>
            <a:endParaRPr lang="tr-TR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tr-T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Veri bütünlüğü</a:t>
            </a:r>
          </a:p>
          <a:p>
            <a:r>
              <a:rPr lang="tr-T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Tutarlılık</a:t>
            </a:r>
          </a:p>
          <a:p>
            <a:r>
              <a:rPr lang="tr-T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Genişletilebilir yapı</a:t>
            </a:r>
          </a:p>
          <a:p>
            <a:br>
              <a:rPr lang="tr-TR" dirty="0"/>
            </a:br>
            <a:endParaRPr lang="tr-TR" dirty="0"/>
          </a:p>
          <a:p>
            <a:pPr algn="ctr"/>
            <a:endParaRPr lang="tr-T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82787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aşlık 4">
            <a:extLst>
              <a:ext uri="{FF2B5EF4-FFF2-40B4-BE49-F238E27FC236}">
                <a16:creationId xmlns:a16="http://schemas.microsoft.com/office/drawing/2014/main" id="{375672ED-D429-B744-DAA8-B8C444CFB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2760"/>
            <a:ext cx="10515600" cy="567557"/>
          </a:xfrm>
        </p:spPr>
        <p:txBody>
          <a:bodyPr>
            <a:normAutofit/>
          </a:bodyPr>
          <a:lstStyle/>
          <a:p>
            <a:r>
              <a:rPr lang="tr-TR" sz="3200" dirty="0"/>
              <a:t>VERİTABANI TABLOLARI</a:t>
            </a:r>
            <a:endParaRPr lang="tr-TR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47F2E8A5-BA71-EFC0-D2BF-7A8084CFE0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24910"/>
            <a:ext cx="10515600" cy="5252053"/>
          </a:xfrm>
        </p:spPr>
        <p:txBody>
          <a:bodyPr/>
          <a:lstStyle/>
          <a:p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 tablolar ve görevleri:</a:t>
            </a:r>
          </a:p>
          <a:p>
            <a:r>
              <a:rPr lang="tr-T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Kullanicilar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Kullanıcı bilgilerini tutar.</a:t>
            </a:r>
          </a:p>
          <a:p>
            <a:r>
              <a:rPr lang="tr-T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Payments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Ödeme detaylarını içerir.</a:t>
            </a:r>
          </a:p>
          <a:p>
            <a:r>
              <a:rPr lang="tr-T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İslemler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Kullanıcının banka hareketlerini tutar.</a:t>
            </a:r>
          </a:p>
          <a:p>
            <a:r>
              <a:rPr lang="tr-T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Roller:Kullanıcı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rol tanımlarını tutar.(</a:t>
            </a:r>
            <a:r>
              <a:rPr lang="tr-T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admin,kullanıcı,fraud_uzmanı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vb.)</a:t>
            </a:r>
          </a:p>
          <a:p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hesaplar: Banka hesaplarını tutar.</a:t>
            </a:r>
          </a:p>
          <a:p>
            <a:r>
              <a:rPr lang="tr-T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ml_modelleri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tr-T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Fraud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detection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ml modellerini tutar.</a:t>
            </a:r>
          </a:p>
          <a:p>
            <a:r>
              <a:rPr lang="tr-T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Fraud_incelemeleri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Manuel </a:t>
            </a:r>
            <a:r>
              <a:rPr lang="tr-T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fraud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inceleme kayıtları </a:t>
            </a:r>
          </a:p>
          <a:p>
            <a:r>
              <a:rPr lang="tr-T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transactions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İşlem geçmişi (ön yüz entegrasyonu)</a:t>
            </a:r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B54D997C-B14D-E9F7-7FDE-425F4BA859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4214" y="797897"/>
            <a:ext cx="4227786" cy="2365717"/>
          </a:xfrm>
          <a:prstGeom prst="rect">
            <a:avLst/>
          </a:prstGeom>
        </p:spPr>
      </p:pic>
      <p:pic>
        <p:nvPicPr>
          <p:cNvPr id="8" name="Resim 7" descr="metin, ekran görüntüsü, multimedya yazılımı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21B3290A-68CA-1A8D-99DC-75903AFC24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4214" y="3258207"/>
            <a:ext cx="4227786" cy="2585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2993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171EDFC-FC49-FC60-03BB-5D108DF0F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634"/>
            <a:ext cx="10515600" cy="809297"/>
          </a:xfrm>
        </p:spPr>
        <p:txBody>
          <a:bodyPr>
            <a:normAutofit/>
          </a:bodyPr>
          <a:lstStyle/>
          <a:p>
            <a:r>
              <a:rPr lang="tr-TR" sz="2800" dirty="0"/>
              <a:t>SQL YAPILARI VE VERİTABANI ÖZELLİKLERİ</a:t>
            </a:r>
            <a:endParaRPr lang="tr-T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İçerik Yer Tutucusu 2">
            <a:extLst>
              <a:ext uri="{FF2B5EF4-FFF2-40B4-BE49-F238E27FC236}">
                <a16:creationId xmlns:a16="http://schemas.microsoft.com/office/drawing/2014/main" id="{00198B9F-9D55-E9DE-084D-D761DFBC4F92}"/>
              </a:ext>
            </a:extLst>
          </p:cNvPr>
          <p:cNvSpPr txBox="1">
            <a:spLocks/>
          </p:cNvSpPr>
          <p:nvPr/>
        </p:nvSpPr>
        <p:spPr>
          <a:xfrm>
            <a:off x="6299200" y="1825625"/>
            <a:ext cx="5054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Metin eklemek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B2CC98B6-C77C-F14B-BDEF-9648FD37E7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489" y="945931"/>
            <a:ext cx="10515600" cy="5231032"/>
          </a:xfrm>
        </p:spPr>
        <p:txBody>
          <a:bodyPr/>
          <a:lstStyle/>
          <a:p>
            <a:r>
              <a:rPr lang="tr-TR" sz="2400" b="1" dirty="0"/>
              <a:t>Kullanılan SQL Yapıları</a:t>
            </a:r>
            <a:endParaRPr lang="tr-TR" sz="2400" dirty="0"/>
          </a:p>
          <a:p>
            <a:r>
              <a:rPr lang="tr-TR" dirty="0"/>
              <a:t>CREATE TABLE</a:t>
            </a:r>
          </a:p>
          <a:p>
            <a:r>
              <a:rPr lang="tr-TR" dirty="0"/>
              <a:t>PRIMARY KEY</a:t>
            </a:r>
          </a:p>
          <a:p>
            <a:r>
              <a:rPr lang="tr-TR" dirty="0"/>
              <a:t>FOREIGN KEY</a:t>
            </a:r>
          </a:p>
          <a:p>
            <a:r>
              <a:rPr lang="tr-TR" dirty="0"/>
              <a:t>INSERT INTO</a:t>
            </a:r>
          </a:p>
          <a:p>
            <a:r>
              <a:rPr lang="tr-TR" dirty="0"/>
              <a:t>SELECT sorguları</a:t>
            </a:r>
          </a:p>
          <a:p>
            <a:r>
              <a:rPr lang="tr-TR" b="1" dirty="0"/>
              <a:t>Veri Güvenliği ve Bütünlüğü</a:t>
            </a:r>
            <a:endParaRPr lang="tr-TR" dirty="0"/>
          </a:p>
          <a:p>
            <a:r>
              <a:rPr lang="tr-TR" dirty="0"/>
              <a:t>Zorunlu alan kontrolleri</a:t>
            </a:r>
          </a:p>
          <a:p>
            <a:r>
              <a:rPr lang="tr-TR" dirty="0"/>
              <a:t>İlişkisel kısıtlamalar</a:t>
            </a:r>
          </a:p>
          <a:p>
            <a:r>
              <a:rPr lang="tr-TR" dirty="0"/>
              <a:t>Tutarlı veri yapısı</a:t>
            </a:r>
          </a:p>
          <a:p>
            <a:pPr marL="0" indent="0">
              <a:buNone/>
            </a:pPr>
            <a:endParaRPr lang="tr-TR" dirty="0"/>
          </a:p>
        </p:txBody>
      </p:sp>
      <p:pic>
        <p:nvPicPr>
          <p:cNvPr id="6" name="Resim 5" descr="ekran görüntüsü, metin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412B3F79-D2F1-D89A-E961-9687069BD8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3641" y="710532"/>
            <a:ext cx="5614276" cy="3020639"/>
          </a:xfrm>
          <a:prstGeom prst="rect">
            <a:avLst/>
          </a:prstGeom>
        </p:spPr>
      </p:pic>
      <p:pic>
        <p:nvPicPr>
          <p:cNvPr id="8" name="Resim 7" descr="metin, ekran görüntüsü, yazı tipi, sayı, numara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3AFC244A-B323-5848-0A37-843C62DE2E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8793" y="3731171"/>
            <a:ext cx="4519448" cy="2732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15488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AAEF4C1-520F-685C-B172-0D40B94B6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89186"/>
            <a:ext cx="10515600" cy="861848"/>
          </a:xfrm>
        </p:spPr>
        <p:txBody>
          <a:bodyPr>
            <a:normAutofit/>
          </a:bodyPr>
          <a:lstStyle/>
          <a:p>
            <a:r>
              <a:rPr lang="tr-TR" sz="3600" dirty="0"/>
              <a:t>KULLANILAN TEKNOLOJİ YIĞINI</a:t>
            </a:r>
            <a:endParaRPr lang="tr-TR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49BA3292-4466-B0E7-29F2-E3426707DDD7}"/>
              </a:ext>
            </a:extLst>
          </p:cNvPr>
          <p:cNvSpPr txBox="1"/>
          <p:nvPr/>
        </p:nvSpPr>
        <p:spPr>
          <a:xfrm>
            <a:off x="199696" y="4511445"/>
            <a:ext cx="1031064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Veritabanı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MySQL </a:t>
            </a:r>
          </a:p>
          <a:p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Geliştirme Aracı: MySQL Workbench </a:t>
            </a:r>
          </a:p>
          <a:p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Dil: SQL </a:t>
            </a:r>
          </a:p>
          <a:p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Versiyon Kontrol: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Git&amp;Github</a:t>
            </a:r>
            <a:endParaRPr lang="tr-T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Yedekleme: .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dump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backup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dosyası</a:t>
            </a:r>
          </a:p>
        </p:txBody>
      </p:sp>
      <p:pic>
        <p:nvPicPr>
          <p:cNvPr id="10" name="İçerik Yer Tutucusu 9" descr="yazılım, multimedya yazılımı, metin, ekran görüntüsü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FECE7B93-593E-0313-F3B3-62D1E36354D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99696" y="1051034"/>
            <a:ext cx="6201103" cy="33582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625189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etin Yer Tutucusu 8">
            <a:extLst>
              <a:ext uri="{FF2B5EF4-FFF2-40B4-BE49-F238E27FC236}">
                <a16:creationId xmlns:a16="http://schemas.microsoft.com/office/drawing/2014/main" id="{70137D59-2C39-7D53-4174-D7054A9FB6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562708"/>
            <a:ext cx="3932237" cy="5306280"/>
          </a:xfrm>
        </p:spPr>
        <p:txBody>
          <a:bodyPr/>
          <a:lstStyle/>
          <a:p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Yanda MySQL Workbench tablo görünümü verilmiştir: </a:t>
            </a:r>
          </a:p>
          <a:p>
            <a:r>
              <a:rPr lang="tr-T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Tablolar arası ilişkiler görselleştirilmiştir. </a:t>
            </a:r>
          </a:p>
        </p:txBody>
      </p:sp>
      <p:pic>
        <p:nvPicPr>
          <p:cNvPr id="18" name="Resim Yer Tutucusu 17" descr="metin, ekran görüntüsü, web sayfası, yazılı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D21D0897-4388-4CC1-0DD9-DED186BB9831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70" b="3070"/>
          <a:stretch>
            <a:fillRect/>
          </a:stretch>
        </p:blipFill>
        <p:spPr>
          <a:xfrm>
            <a:off x="4772025" y="337625"/>
            <a:ext cx="7406301" cy="5655212"/>
          </a:xfrm>
        </p:spPr>
      </p:pic>
    </p:spTree>
    <p:extLst>
      <p:ext uri="{BB962C8B-B14F-4D97-AF65-F5344CB8AC3E}">
        <p14:creationId xmlns:p14="http://schemas.microsoft.com/office/powerpoint/2010/main" val="2725478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05CE93B-40B6-CC3D-5BF5-4ECB9EEC0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7441"/>
          </a:xfrm>
        </p:spPr>
        <p:txBody>
          <a:bodyPr/>
          <a:lstStyle/>
          <a:p>
            <a:r>
              <a:rPr lang="tr-TR" dirty="0"/>
              <a:t>Kaynakça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95B82483-4CC6-3E00-4637-9A8ED5FD62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428"/>
            <a:ext cx="10515600" cy="4726535"/>
          </a:xfrm>
        </p:spPr>
        <p:txBody>
          <a:bodyPr/>
          <a:lstStyle/>
          <a:p>
            <a:pPr marL="0" indent="0">
              <a:buNone/>
            </a:pPr>
            <a:r>
              <a:rPr lang="tr-TR" dirty="0"/>
              <a:t>[1] </a:t>
            </a:r>
            <a:r>
              <a:rPr lang="tr-TR" dirty="0">
                <a:hlinkClick r:id="rId2"/>
              </a:rPr>
              <a:t>https://github.com/ireemkaya1/SheildPay</a:t>
            </a:r>
            <a:endParaRPr lang="tr-TR" dirty="0"/>
          </a:p>
          <a:p>
            <a:pPr marL="0" indent="0">
              <a:buNone/>
            </a:pPr>
            <a:r>
              <a:rPr lang="tr-TR" dirty="0"/>
              <a:t>[2]MySQL </a:t>
            </a:r>
            <a:r>
              <a:rPr lang="tr-TR" dirty="0" err="1"/>
              <a:t>Documentation</a:t>
            </a:r>
            <a:r>
              <a:rPr lang="tr-TR" dirty="0"/>
              <a:t> – SQL </a:t>
            </a:r>
            <a:r>
              <a:rPr lang="tr-TR" dirty="0" err="1"/>
              <a:t>Syntax</a:t>
            </a:r>
            <a:r>
              <a:rPr lang="tr-TR" dirty="0"/>
              <a:t> ve </a:t>
            </a:r>
            <a:r>
              <a:rPr lang="tr-TR" dirty="0" err="1"/>
              <a:t>Foreign</a:t>
            </a:r>
            <a:r>
              <a:rPr lang="tr-TR" dirty="0"/>
              <a:t> </a:t>
            </a:r>
            <a:r>
              <a:rPr lang="tr-TR" dirty="0" err="1"/>
              <a:t>Key</a:t>
            </a:r>
            <a:r>
              <a:rPr lang="tr-TR" dirty="0"/>
              <a:t> Yapıları</a:t>
            </a:r>
            <a:br>
              <a:rPr lang="tr-TR" dirty="0"/>
            </a:br>
            <a:r>
              <a:rPr lang="tr-TR" dirty="0">
                <a:hlinkClick r:id="rId3"/>
              </a:rPr>
              <a:t>https://dev.mysql.com/doc/</a:t>
            </a:r>
            <a:endParaRPr lang="tr-TR" dirty="0"/>
          </a:p>
          <a:p>
            <a:pPr marL="0" indent="0">
              <a:buNone/>
            </a:pPr>
            <a:r>
              <a:rPr lang="tr-TR" dirty="0"/>
              <a:t>[3] MySQL Workbench Kullanım Kılavuzu</a:t>
            </a:r>
            <a:br>
              <a:rPr lang="tr-TR" dirty="0"/>
            </a:br>
            <a:r>
              <a:rPr lang="tr-TR" dirty="0">
                <a:hlinkClick r:id="rId4"/>
              </a:rPr>
              <a:t>https://dev.mysql.com/doc/workbench/en/</a:t>
            </a:r>
            <a:endParaRPr lang="tr-TR" dirty="0"/>
          </a:p>
          <a:p>
            <a:pPr marL="0" indent="0">
              <a:buNone/>
            </a:pPr>
            <a:r>
              <a:rPr lang="tr-TR" dirty="0"/>
              <a:t>[4] Ders Notları – </a:t>
            </a:r>
            <a:r>
              <a:rPr lang="tr-TR" dirty="0" err="1"/>
              <a:t>Veritabanı</a:t>
            </a:r>
            <a:r>
              <a:rPr lang="tr-TR" dirty="0"/>
              <a:t> Yönetim Sistemleri</a:t>
            </a:r>
            <a:br>
              <a:rPr lang="tr-TR" dirty="0"/>
            </a:br>
            <a:r>
              <a:rPr lang="tr-TR" dirty="0"/>
              <a:t>Yusuf </a:t>
            </a:r>
            <a:r>
              <a:rPr lang="tr-TR" dirty="0" err="1"/>
              <a:t>Özçevik</a:t>
            </a:r>
            <a:endParaRPr lang="tr-TR" dirty="0"/>
          </a:p>
          <a:p>
            <a:pPr marL="0" indent="0">
              <a:buNone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6298097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24ab77b-6ebf-4ea1-95fd-d7fd9a65aae6" xsi:nil="true"/>
    <lcf76f155ced4ddcb4097134ff3c332f xmlns="87dbed84-ea2d-4c81-9032-b351b004c82c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Belge" ma:contentTypeID="0x010100DC66BCBAFA9FD94F8D3AE88B09CBDA62" ma:contentTypeVersion="11" ma:contentTypeDescription="Yeni belge oluşturun." ma:contentTypeScope="" ma:versionID="5c6d65bca0098c9f67b324481edb7838">
  <xsd:schema xmlns:xsd="http://www.w3.org/2001/XMLSchema" xmlns:xs="http://www.w3.org/2001/XMLSchema" xmlns:p="http://schemas.microsoft.com/office/2006/metadata/properties" xmlns:ns2="87dbed84-ea2d-4c81-9032-b351b004c82c" xmlns:ns3="a24ab77b-6ebf-4ea1-95fd-d7fd9a65aae6" targetNamespace="http://schemas.microsoft.com/office/2006/metadata/properties" ma:root="true" ma:fieldsID="1b028453ee11600842d1878e55e2ecfb" ns2:_="" ns3:_="">
    <xsd:import namespace="87dbed84-ea2d-4c81-9032-b351b004c82c"/>
    <xsd:import namespace="a24ab77b-6ebf-4ea1-95fd-d7fd9a65aae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dbed84-ea2d-4c81-9032-b351b004c82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Resim Etiketleri" ma:readOnly="false" ma:fieldId="{5cf76f15-5ced-4ddc-b409-7134ff3c332f}" ma:taxonomyMulti="true" ma:sspId="25b86514-8e1d-4ede-91c0-90ec09b573b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24ab77b-6ebf-4ea1-95fd-d7fd9a65aae6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b9227fdd-dbee-487c-82d5-2f71b21c7659}" ma:internalName="TaxCatchAll" ma:showField="CatchAllData" ma:web="a24ab77b-6ebf-4ea1-95fd-d7fd9a65aae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İçerik Türü"/>
        <xsd:element ref="dc:title" minOccurs="0" maxOccurs="1" ma:index="4" ma:displayName="Başlı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1FEAE1B-5360-42E5-99A5-B826BFFFC3A1}">
  <ds:schemaRefs>
    <ds:schemaRef ds:uri="a24ab77b-6ebf-4ea1-95fd-d7fd9a65aae6"/>
    <ds:schemaRef ds:uri="http://schemas.microsoft.com/office/2006/documentManagement/types"/>
    <ds:schemaRef ds:uri="http://schemas.openxmlformats.org/package/2006/metadata/core-properties"/>
    <ds:schemaRef ds:uri="http://purl.org/dc/terms/"/>
    <ds:schemaRef ds:uri="http://purl.org/dc/elements/1.1/"/>
    <ds:schemaRef ds:uri="http://schemas.microsoft.com/office/2006/metadata/properties"/>
    <ds:schemaRef ds:uri="http://schemas.microsoft.com/office/infopath/2007/PartnerControls"/>
    <ds:schemaRef ds:uri="87dbed84-ea2d-4c81-9032-b351b004c82c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DB31CFC4-FF69-4C1E-98F6-1585390A899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C4A3C9B-22E1-48DF-9B6A-A8B7A099339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7dbed84-ea2d-4c81-9032-b351b004c82c"/>
    <ds:schemaRef ds:uri="a24ab77b-6ebf-4ea1-95fd-d7fd9a65aae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112</TotalTime>
  <Words>330</Words>
  <Application>Microsoft Macintosh PowerPoint</Application>
  <PresentationFormat>Geniş ekran</PresentationFormat>
  <Paragraphs>59</Paragraphs>
  <Slides>8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Times New Roman</vt:lpstr>
      <vt:lpstr>Office Teması</vt:lpstr>
      <vt:lpstr>    Shieldpay Ödeme Sistemi Veritabanı Yönetimi</vt:lpstr>
      <vt:lpstr>Proje Tanımı ve Amacı</vt:lpstr>
      <vt:lpstr>VERİTABANI GENEL YAPISI</vt:lpstr>
      <vt:lpstr>VERİTABANI TABLOLARI</vt:lpstr>
      <vt:lpstr>SQL YAPILARI VE VERİTABANI ÖZELLİKLERİ</vt:lpstr>
      <vt:lpstr>KULLANILAN TEKNOLOJİ YIĞINI</vt:lpstr>
      <vt:lpstr>PowerPoint Sunusu</vt:lpstr>
      <vt:lpstr>Kaynakça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GÜNEY KAYA</dc:creator>
  <cp:lastModifiedBy>İREM K. 232803060</cp:lastModifiedBy>
  <cp:revision>9</cp:revision>
  <dcterms:created xsi:type="dcterms:W3CDTF">2025-12-08T13:02:36Z</dcterms:created>
  <dcterms:modified xsi:type="dcterms:W3CDTF">2025-12-23T14:26:09Z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0x010100DC66BCBAFA9FD94F8D3AE88B09CBDA62</vt:lpwstr>
  </property>
</Properties>
</file>